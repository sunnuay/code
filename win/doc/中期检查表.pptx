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tags/tag10.xml" ContentType="application/vnd.openxmlformats-officedocument.presentationml.tags+xml"/>
  <Override PartName="/ppt/notesSlides/notesSlide1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1855" r:id="rId2"/>
    <p:sldId id="1826" r:id="rId3"/>
    <p:sldId id="1857" r:id="rId4"/>
    <p:sldId id="1889" r:id="rId5"/>
    <p:sldId id="1847" r:id="rId6"/>
    <p:sldId id="1890" r:id="rId7"/>
    <p:sldId id="1895" r:id="rId8"/>
    <p:sldId id="1896" r:id="rId9"/>
    <p:sldId id="1897" r:id="rId10"/>
    <p:sldId id="1898" r:id="rId11"/>
    <p:sldId id="1848" r:id="rId12"/>
    <p:sldId id="1891" r:id="rId13"/>
    <p:sldId id="1899" r:id="rId14"/>
    <p:sldId id="1900" r:id="rId15"/>
    <p:sldId id="1901" r:id="rId16"/>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κiζs_緈鍢" initials="κ"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0EA"/>
    <a:srgbClr val="FAFBFD"/>
    <a:srgbClr val="E8EAF8"/>
    <a:srgbClr val="F0F1FA"/>
    <a:srgbClr val="CFD3E8"/>
    <a:srgbClr val="AA805C"/>
    <a:srgbClr val="33326C"/>
    <a:srgbClr val="E53947"/>
    <a:srgbClr val="A5A5A5"/>
    <a:srgbClr val="4053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095" autoAdjust="0"/>
  </p:normalViewPr>
  <p:slideViewPr>
    <p:cSldViewPr showGuides="1">
      <p:cViewPr varScale="1">
        <p:scale>
          <a:sx n="85" d="100"/>
          <a:sy n="85" d="100"/>
        </p:scale>
        <p:origin x="590" y="58"/>
      </p:cViewPr>
      <p:guideLst>
        <p:guide orient="horz" pos="2160"/>
        <p:guide pos="3838"/>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2023/12/9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71216A-7A78-4F6E-AA82-29CFEC344375}" type="datetimeFigureOut">
              <a:rPr lang="zh-CN" altLang="en-US" smtClean="0"/>
              <a:t>2023/12/9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ADDCEE-B938-4AE8-98CF-EB91900D4C2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06B68A-6829-4462-AE1C-23173783F840}"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669E05-33B4-4031-B6A0-786CF90A18A7}" type="slidenum">
              <a:rPr lang="zh-CN" altLang="en-US" smtClean="0">
                <a:solidFill>
                  <a:prstClr val="black"/>
                </a:solidFill>
              </a:rPr>
              <a:t>2</a:t>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669E05-33B4-4031-B6A0-786CF90A18A7}" type="slidenum">
              <a:rPr lang="zh-CN" altLang="en-US" smtClean="0">
                <a:solidFill>
                  <a:prstClr val="black"/>
                </a:solidFill>
              </a:rPr>
              <a:t>3</a:t>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669E05-33B4-4031-B6A0-786CF90A18A7}" type="slidenum">
              <a:rPr lang="zh-CN" altLang="en-US" smtClean="0">
                <a:solidFill>
                  <a:prstClr val="black"/>
                </a:solidFill>
              </a:rPr>
              <a:t>5</a:t>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669E05-33B4-4031-B6A0-786CF90A18A7}" type="slidenum">
              <a:rPr lang="zh-CN" altLang="en-US" smtClean="0">
                <a:solidFill>
                  <a:prstClr val="black"/>
                </a:solidFill>
              </a:rPr>
              <a:t>11</a:t>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39" name="组合 38"/>
          <p:cNvGrpSpPr/>
          <p:nvPr userDrawn="1"/>
        </p:nvGrpSpPr>
        <p:grpSpPr>
          <a:xfrm>
            <a:off x="5474146" y="1052736"/>
            <a:ext cx="1243705" cy="1204358"/>
            <a:chOff x="5474146" y="1055546"/>
            <a:chExt cx="1243705" cy="1204358"/>
          </a:xfrm>
          <a:effectLst>
            <a:outerShdw blurRad="114300" dist="63500" dir="2700000" algn="tl" rotWithShape="0">
              <a:prstClr val="black">
                <a:alpha val="10000"/>
              </a:prstClr>
            </a:outerShdw>
          </a:effectLst>
        </p:grpSpPr>
        <p:sp>
          <p:nvSpPr>
            <p:cNvPr id="40" name="Oval 5"/>
            <p:cNvSpPr>
              <a:spLocks noChangeArrowheads="1"/>
            </p:cNvSpPr>
            <p:nvPr/>
          </p:nvSpPr>
          <p:spPr bwMode="auto">
            <a:xfrm>
              <a:off x="5474146" y="1055546"/>
              <a:ext cx="1243705" cy="1204358"/>
            </a:xfrm>
            <a:prstGeom prst="ellipse">
              <a:avLst/>
            </a:prstGeom>
            <a:solidFill>
              <a:srgbClr val="CFD3E8"/>
            </a:solidFill>
            <a:ln w="57150">
              <a:solidFill>
                <a:schemeClr val="bg1"/>
              </a:solidFill>
              <a:round/>
            </a:ln>
          </p:spPr>
          <p:txBody>
            <a:bodyPr vert="horz" wrap="square" lIns="128580" tIns="64290" rIns="128580" bIns="64290" numCol="1" anchor="t" anchorCtr="0" compatLnSpc="1"/>
            <a:lstStyle/>
            <a:p>
              <a:endParaRPr lang="zh-CN" altLang="en-US">
                <a:solidFill>
                  <a:prstClr val="black"/>
                </a:solidFill>
              </a:endParaRPr>
            </a:p>
          </p:txBody>
        </p:sp>
        <p:grpSp>
          <p:nvGrpSpPr>
            <p:cNvPr id="41" name="组合 40"/>
            <p:cNvGrpSpPr/>
            <p:nvPr/>
          </p:nvGrpSpPr>
          <p:grpSpPr>
            <a:xfrm>
              <a:off x="5600206" y="1384823"/>
              <a:ext cx="1087893" cy="845662"/>
              <a:chOff x="5552848" y="1343115"/>
              <a:chExt cx="1138005" cy="884616"/>
            </a:xfrm>
          </p:grpSpPr>
          <p:sp>
            <p:nvSpPr>
              <p:cNvPr id="42" name="Freeform 6"/>
              <p:cNvSpPr/>
              <p:nvPr/>
            </p:nvSpPr>
            <p:spPr bwMode="auto">
              <a:xfrm>
                <a:off x="5558339" y="1489662"/>
                <a:ext cx="1132514" cy="738069"/>
              </a:xfrm>
              <a:custGeom>
                <a:avLst/>
                <a:gdLst>
                  <a:gd name="T0" fmla="*/ 346 w 346"/>
                  <a:gd name="T1" fmla="*/ 43 h 233"/>
                  <a:gd name="T2" fmla="*/ 156 w 346"/>
                  <a:gd name="T3" fmla="*/ 233 h 233"/>
                  <a:gd name="T4" fmla="*/ 128 w 346"/>
                  <a:gd name="T5" fmla="*/ 231 h 233"/>
                  <a:gd name="T6" fmla="*/ 24 w 346"/>
                  <a:gd name="T7" fmla="*/ 127 h 233"/>
                  <a:gd name="T8" fmla="*/ 22 w 346"/>
                  <a:gd name="T9" fmla="*/ 118 h 233"/>
                  <a:gd name="T10" fmla="*/ 32 w 346"/>
                  <a:gd name="T11" fmla="*/ 86 h 233"/>
                  <a:gd name="T12" fmla="*/ 22 w 346"/>
                  <a:gd name="T13" fmla="*/ 76 h 233"/>
                  <a:gd name="T14" fmla="*/ 32 w 346"/>
                  <a:gd name="T15" fmla="*/ 72 h 233"/>
                  <a:gd name="T16" fmla="*/ 33 w 346"/>
                  <a:gd name="T17" fmla="*/ 39 h 233"/>
                  <a:gd name="T18" fmla="*/ 0 w 346"/>
                  <a:gd name="T19" fmla="*/ 7 h 233"/>
                  <a:gd name="T20" fmla="*/ 312 w 346"/>
                  <a:gd name="T21" fmla="*/ 0 h 233"/>
                  <a:gd name="T22" fmla="*/ 346 w 346"/>
                  <a:gd name="T23" fmla="*/ 34 h 233"/>
                  <a:gd name="T24" fmla="*/ 346 w 346"/>
                  <a:gd name="T25" fmla="*/ 43 h 233"/>
                  <a:gd name="connsiteX0" fmla="*/ 10000 w 10000"/>
                  <a:gd name="connsiteY0" fmla="*/ 1845 h 10000"/>
                  <a:gd name="connsiteX1" fmla="*/ 4509 w 10000"/>
                  <a:gd name="connsiteY1" fmla="*/ 10000 h 10000"/>
                  <a:gd name="connsiteX2" fmla="*/ 3699 w 10000"/>
                  <a:gd name="connsiteY2" fmla="*/ 9914 h 10000"/>
                  <a:gd name="connsiteX3" fmla="*/ 694 w 10000"/>
                  <a:gd name="connsiteY3" fmla="*/ 5451 h 10000"/>
                  <a:gd name="connsiteX4" fmla="*/ 636 w 10000"/>
                  <a:gd name="connsiteY4" fmla="*/ 5064 h 10000"/>
                  <a:gd name="connsiteX5" fmla="*/ 925 w 10000"/>
                  <a:gd name="connsiteY5" fmla="*/ 3691 h 10000"/>
                  <a:gd name="connsiteX6" fmla="*/ 636 w 10000"/>
                  <a:gd name="connsiteY6" fmla="*/ 3262 h 10000"/>
                  <a:gd name="connsiteX7" fmla="*/ 925 w 10000"/>
                  <a:gd name="connsiteY7" fmla="*/ 3090 h 10000"/>
                  <a:gd name="connsiteX8" fmla="*/ 954 w 10000"/>
                  <a:gd name="connsiteY8" fmla="*/ 1674 h 10000"/>
                  <a:gd name="connsiteX9" fmla="*/ 0 w 10000"/>
                  <a:gd name="connsiteY9" fmla="*/ 300 h 10000"/>
                  <a:gd name="connsiteX10" fmla="*/ 9017 w 10000"/>
                  <a:gd name="connsiteY10" fmla="*/ 0 h 10000"/>
                  <a:gd name="connsiteX11" fmla="*/ 10000 w 10000"/>
                  <a:gd name="connsiteY11" fmla="*/ 1459 h 10000"/>
                  <a:gd name="connsiteX12" fmla="*/ 10000 w 10000"/>
                  <a:gd name="connsiteY12" fmla="*/ 1845 h 10000"/>
                  <a:gd name="connsiteX0-1" fmla="*/ 10000 w 10000"/>
                  <a:gd name="connsiteY0-2" fmla="*/ 1845 h 10000"/>
                  <a:gd name="connsiteX1-3" fmla="*/ 4509 w 10000"/>
                  <a:gd name="connsiteY1-4" fmla="*/ 10000 h 10000"/>
                  <a:gd name="connsiteX2-5" fmla="*/ 3699 w 10000"/>
                  <a:gd name="connsiteY2-6" fmla="*/ 9914 h 10000"/>
                  <a:gd name="connsiteX3-7" fmla="*/ 694 w 10000"/>
                  <a:gd name="connsiteY3-8" fmla="*/ 5451 h 10000"/>
                  <a:gd name="connsiteX4-9" fmla="*/ 636 w 10000"/>
                  <a:gd name="connsiteY4-10" fmla="*/ 5064 h 10000"/>
                  <a:gd name="connsiteX5-11" fmla="*/ 925 w 10000"/>
                  <a:gd name="connsiteY5-12" fmla="*/ 3691 h 10000"/>
                  <a:gd name="connsiteX6-13" fmla="*/ 636 w 10000"/>
                  <a:gd name="connsiteY6-14" fmla="*/ 3262 h 10000"/>
                  <a:gd name="connsiteX7-15" fmla="*/ 925 w 10000"/>
                  <a:gd name="connsiteY7-16" fmla="*/ 3090 h 10000"/>
                  <a:gd name="connsiteX8-17" fmla="*/ 954 w 10000"/>
                  <a:gd name="connsiteY8-18" fmla="*/ 1674 h 10000"/>
                  <a:gd name="connsiteX9-19" fmla="*/ 0 w 10000"/>
                  <a:gd name="connsiteY9-20" fmla="*/ 300 h 10000"/>
                  <a:gd name="connsiteX10-21" fmla="*/ 9017 w 10000"/>
                  <a:gd name="connsiteY10-22" fmla="*/ 0 h 10000"/>
                  <a:gd name="connsiteX11-23" fmla="*/ 10000 w 10000"/>
                  <a:gd name="connsiteY11-24" fmla="*/ 1459 h 10000"/>
                  <a:gd name="connsiteX12-25" fmla="*/ 10000 w 10000"/>
                  <a:gd name="connsiteY12-26" fmla="*/ 1845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0000" h="10000">
                    <a:moveTo>
                      <a:pt x="10000" y="1845"/>
                    </a:moveTo>
                    <a:cubicBezTo>
                      <a:pt x="10000" y="6352"/>
                      <a:pt x="7693" y="10066"/>
                      <a:pt x="4509" y="10000"/>
                    </a:cubicBezTo>
                    <a:cubicBezTo>
                      <a:pt x="4220" y="9994"/>
                      <a:pt x="3960" y="10000"/>
                      <a:pt x="3699" y="9914"/>
                    </a:cubicBezTo>
                    <a:lnTo>
                      <a:pt x="694" y="5451"/>
                    </a:lnTo>
                    <a:cubicBezTo>
                      <a:pt x="675" y="5322"/>
                      <a:pt x="655" y="5193"/>
                      <a:pt x="636" y="5064"/>
                    </a:cubicBezTo>
                    <a:cubicBezTo>
                      <a:pt x="732" y="4606"/>
                      <a:pt x="829" y="4149"/>
                      <a:pt x="925" y="3691"/>
                    </a:cubicBezTo>
                    <a:lnTo>
                      <a:pt x="636" y="3262"/>
                    </a:lnTo>
                    <a:lnTo>
                      <a:pt x="925" y="3090"/>
                    </a:lnTo>
                    <a:cubicBezTo>
                      <a:pt x="935" y="2618"/>
                      <a:pt x="944" y="2146"/>
                      <a:pt x="954" y="1674"/>
                    </a:cubicBezTo>
                    <a:lnTo>
                      <a:pt x="0" y="300"/>
                    </a:lnTo>
                    <a:lnTo>
                      <a:pt x="9017" y="0"/>
                    </a:lnTo>
                    <a:lnTo>
                      <a:pt x="10000" y="1459"/>
                    </a:lnTo>
                    <a:lnTo>
                      <a:pt x="10000" y="1845"/>
                    </a:lnTo>
                    <a:close/>
                  </a:path>
                </a:pathLst>
              </a:custGeom>
              <a:solidFill>
                <a:srgbClr val="A7AFD5"/>
              </a:solid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endParaRPr lang="zh-CN" altLang="en-US">
                  <a:solidFill>
                    <a:prstClr val="black"/>
                  </a:solidFill>
                </a:endParaRPr>
              </a:p>
            </p:txBody>
          </p:sp>
          <p:sp>
            <p:nvSpPr>
              <p:cNvPr id="43" name="Freeform 7"/>
              <p:cNvSpPr>
                <a:spLocks noEditPoints="1"/>
              </p:cNvSpPr>
              <p:nvPr/>
            </p:nvSpPr>
            <p:spPr bwMode="auto">
              <a:xfrm>
                <a:off x="5552848" y="1343115"/>
                <a:ext cx="1033676" cy="567542"/>
              </a:xfrm>
              <a:custGeom>
                <a:avLst/>
                <a:gdLst>
                  <a:gd name="T0" fmla="*/ 72 w 316"/>
                  <a:gd name="T1" fmla="*/ 96 h 179"/>
                  <a:gd name="T2" fmla="*/ 72 w 316"/>
                  <a:gd name="T3" fmla="*/ 133 h 179"/>
                  <a:gd name="T4" fmla="*/ 244 w 316"/>
                  <a:gd name="T5" fmla="*/ 133 h 179"/>
                  <a:gd name="T6" fmla="*/ 244 w 316"/>
                  <a:gd name="T7" fmla="*/ 96 h 179"/>
                  <a:gd name="T8" fmla="*/ 237 w 316"/>
                  <a:gd name="T9" fmla="*/ 91 h 179"/>
                  <a:gd name="T10" fmla="*/ 163 w 316"/>
                  <a:gd name="T11" fmla="*/ 122 h 179"/>
                  <a:gd name="T12" fmla="*/ 153 w 316"/>
                  <a:gd name="T13" fmla="*/ 122 h 179"/>
                  <a:gd name="T14" fmla="*/ 80 w 316"/>
                  <a:gd name="T15" fmla="*/ 91 h 179"/>
                  <a:gd name="T16" fmla="*/ 72 w 316"/>
                  <a:gd name="T17" fmla="*/ 96 h 179"/>
                  <a:gd name="T18" fmla="*/ 39 w 316"/>
                  <a:gd name="T19" fmla="*/ 73 h 179"/>
                  <a:gd name="T20" fmla="*/ 39 w 316"/>
                  <a:gd name="T21" fmla="*/ 106 h 179"/>
                  <a:gd name="T22" fmla="*/ 39 w 316"/>
                  <a:gd name="T23" fmla="*/ 107 h 179"/>
                  <a:gd name="T24" fmla="*/ 41 w 316"/>
                  <a:gd name="T25" fmla="*/ 107 h 179"/>
                  <a:gd name="T26" fmla="*/ 45 w 316"/>
                  <a:gd name="T27" fmla="*/ 112 h 179"/>
                  <a:gd name="T28" fmla="*/ 44 w 316"/>
                  <a:gd name="T29" fmla="*/ 119 h 179"/>
                  <a:gd name="T30" fmla="*/ 44 w 316"/>
                  <a:gd name="T31" fmla="*/ 119 h 179"/>
                  <a:gd name="T32" fmla="*/ 44 w 316"/>
                  <a:gd name="T33" fmla="*/ 123 h 179"/>
                  <a:gd name="T34" fmla="*/ 44 w 316"/>
                  <a:gd name="T35" fmla="*/ 124 h 179"/>
                  <a:gd name="T36" fmla="*/ 42 w 316"/>
                  <a:gd name="T37" fmla="*/ 174 h 179"/>
                  <a:gd name="T38" fmla="*/ 41 w 316"/>
                  <a:gd name="T39" fmla="*/ 174 h 179"/>
                  <a:gd name="T40" fmla="*/ 42 w 316"/>
                  <a:gd name="T41" fmla="*/ 169 h 179"/>
                  <a:gd name="T42" fmla="*/ 40 w 316"/>
                  <a:gd name="T43" fmla="*/ 169 h 179"/>
                  <a:gd name="T44" fmla="*/ 35 w 316"/>
                  <a:gd name="T45" fmla="*/ 179 h 179"/>
                  <a:gd name="T46" fmla="*/ 34 w 316"/>
                  <a:gd name="T47" fmla="*/ 178 h 179"/>
                  <a:gd name="T48" fmla="*/ 33 w 316"/>
                  <a:gd name="T49" fmla="*/ 168 h 179"/>
                  <a:gd name="T50" fmla="*/ 31 w 316"/>
                  <a:gd name="T51" fmla="*/ 166 h 179"/>
                  <a:gd name="T52" fmla="*/ 31 w 316"/>
                  <a:gd name="T53" fmla="*/ 172 h 179"/>
                  <a:gd name="T54" fmla="*/ 30 w 316"/>
                  <a:gd name="T55" fmla="*/ 172 h 179"/>
                  <a:gd name="T56" fmla="*/ 29 w 316"/>
                  <a:gd name="T57" fmla="*/ 168 h 179"/>
                  <a:gd name="T58" fmla="*/ 28 w 316"/>
                  <a:gd name="T59" fmla="*/ 169 h 179"/>
                  <a:gd name="T60" fmla="*/ 28 w 316"/>
                  <a:gd name="T61" fmla="*/ 174 h 179"/>
                  <a:gd name="T62" fmla="*/ 27 w 316"/>
                  <a:gd name="T63" fmla="*/ 175 h 179"/>
                  <a:gd name="T64" fmla="*/ 26 w 316"/>
                  <a:gd name="T65" fmla="*/ 123 h 179"/>
                  <a:gd name="T66" fmla="*/ 26 w 316"/>
                  <a:gd name="T67" fmla="*/ 122 h 179"/>
                  <a:gd name="T68" fmla="*/ 26 w 316"/>
                  <a:gd name="T69" fmla="*/ 118 h 179"/>
                  <a:gd name="T70" fmla="*/ 26 w 316"/>
                  <a:gd name="T71" fmla="*/ 118 h 179"/>
                  <a:gd name="T72" fmla="*/ 25 w 316"/>
                  <a:gd name="T73" fmla="*/ 112 h 179"/>
                  <a:gd name="T74" fmla="*/ 30 w 316"/>
                  <a:gd name="T75" fmla="*/ 105 h 179"/>
                  <a:gd name="T76" fmla="*/ 32 w 316"/>
                  <a:gd name="T77" fmla="*/ 105 h 179"/>
                  <a:gd name="T78" fmla="*/ 32 w 316"/>
                  <a:gd name="T79" fmla="*/ 104 h 179"/>
                  <a:gd name="T80" fmla="*/ 32 w 316"/>
                  <a:gd name="T81" fmla="*/ 68 h 179"/>
                  <a:gd name="T82" fmla="*/ 30 w 316"/>
                  <a:gd name="T83" fmla="*/ 65 h 179"/>
                  <a:gd name="T84" fmla="*/ 4 w 316"/>
                  <a:gd name="T85" fmla="*/ 54 h 179"/>
                  <a:gd name="T86" fmla="*/ 4 w 316"/>
                  <a:gd name="T87" fmla="*/ 45 h 179"/>
                  <a:gd name="T88" fmla="*/ 154 w 316"/>
                  <a:gd name="T89" fmla="*/ 0 h 179"/>
                  <a:gd name="T90" fmla="*/ 162 w 316"/>
                  <a:gd name="T91" fmla="*/ 0 h 179"/>
                  <a:gd name="T92" fmla="*/ 311 w 316"/>
                  <a:gd name="T93" fmla="*/ 45 h 179"/>
                  <a:gd name="T94" fmla="*/ 312 w 316"/>
                  <a:gd name="T95" fmla="*/ 54 h 179"/>
                  <a:gd name="T96" fmla="*/ 163 w 316"/>
                  <a:gd name="T97" fmla="*/ 116 h 179"/>
                  <a:gd name="T98" fmla="*/ 153 w 316"/>
                  <a:gd name="T99" fmla="*/ 116 h 179"/>
                  <a:gd name="T100" fmla="*/ 43 w 316"/>
                  <a:gd name="T101" fmla="*/ 70 h 179"/>
                  <a:gd name="T102" fmla="*/ 39 w 316"/>
                  <a:gd name="T103" fmla="*/ 7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16" h="179">
                    <a:moveTo>
                      <a:pt x="72" y="96"/>
                    </a:moveTo>
                    <a:cubicBezTo>
                      <a:pt x="72" y="133"/>
                      <a:pt x="72" y="133"/>
                      <a:pt x="72" y="133"/>
                    </a:cubicBezTo>
                    <a:cubicBezTo>
                      <a:pt x="72" y="177"/>
                      <a:pt x="244" y="177"/>
                      <a:pt x="244" y="133"/>
                    </a:cubicBezTo>
                    <a:cubicBezTo>
                      <a:pt x="244" y="96"/>
                      <a:pt x="244" y="96"/>
                      <a:pt x="244" y="96"/>
                    </a:cubicBezTo>
                    <a:cubicBezTo>
                      <a:pt x="244" y="92"/>
                      <a:pt x="240" y="89"/>
                      <a:pt x="237" y="91"/>
                    </a:cubicBezTo>
                    <a:cubicBezTo>
                      <a:pt x="163" y="122"/>
                      <a:pt x="163" y="122"/>
                      <a:pt x="163" y="122"/>
                    </a:cubicBezTo>
                    <a:cubicBezTo>
                      <a:pt x="160" y="123"/>
                      <a:pt x="156" y="123"/>
                      <a:pt x="153" y="122"/>
                    </a:cubicBezTo>
                    <a:cubicBezTo>
                      <a:pt x="80" y="91"/>
                      <a:pt x="80" y="91"/>
                      <a:pt x="80" y="91"/>
                    </a:cubicBezTo>
                    <a:cubicBezTo>
                      <a:pt x="76" y="89"/>
                      <a:pt x="72" y="92"/>
                      <a:pt x="72" y="96"/>
                    </a:cubicBezTo>
                    <a:close/>
                    <a:moveTo>
                      <a:pt x="39" y="73"/>
                    </a:moveTo>
                    <a:cubicBezTo>
                      <a:pt x="39" y="106"/>
                      <a:pt x="39" y="106"/>
                      <a:pt x="39" y="106"/>
                    </a:cubicBezTo>
                    <a:cubicBezTo>
                      <a:pt x="39" y="106"/>
                      <a:pt x="39" y="106"/>
                      <a:pt x="39" y="107"/>
                    </a:cubicBezTo>
                    <a:cubicBezTo>
                      <a:pt x="40" y="107"/>
                      <a:pt x="40" y="107"/>
                      <a:pt x="41" y="107"/>
                    </a:cubicBezTo>
                    <a:cubicBezTo>
                      <a:pt x="45" y="105"/>
                      <a:pt x="45" y="109"/>
                      <a:pt x="45" y="112"/>
                    </a:cubicBezTo>
                    <a:cubicBezTo>
                      <a:pt x="45" y="114"/>
                      <a:pt x="45" y="117"/>
                      <a:pt x="44" y="119"/>
                    </a:cubicBezTo>
                    <a:cubicBezTo>
                      <a:pt x="44" y="119"/>
                      <a:pt x="44" y="119"/>
                      <a:pt x="44" y="119"/>
                    </a:cubicBezTo>
                    <a:cubicBezTo>
                      <a:pt x="46" y="120"/>
                      <a:pt x="46" y="123"/>
                      <a:pt x="44" y="123"/>
                    </a:cubicBezTo>
                    <a:cubicBezTo>
                      <a:pt x="44" y="123"/>
                      <a:pt x="44" y="124"/>
                      <a:pt x="44" y="124"/>
                    </a:cubicBezTo>
                    <a:cubicBezTo>
                      <a:pt x="53" y="139"/>
                      <a:pt x="57" y="161"/>
                      <a:pt x="42" y="174"/>
                    </a:cubicBezTo>
                    <a:cubicBezTo>
                      <a:pt x="41" y="175"/>
                      <a:pt x="41" y="175"/>
                      <a:pt x="41" y="174"/>
                    </a:cubicBezTo>
                    <a:cubicBezTo>
                      <a:pt x="41" y="172"/>
                      <a:pt x="42" y="171"/>
                      <a:pt x="42" y="169"/>
                    </a:cubicBezTo>
                    <a:cubicBezTo>
                      <a:pt x="43" y="163"/>
                      <a:pt x="42" y="163"/>
                      <a:pt x="40" y="169"/>
                    </a:cubicBezTo>
                    <a:cubicBezTo>
                      <a:pt x="39" y="173"/>
                      <a:pt x="37" y="176"/>
                      <a:pt x="35" y="179"/>
                    </a:cubicBezTo>
                    <a:cubicBezTo>
                      <a:pt x="35" y="179"/>
                      <a:pt x="34" y="179"/>
                      <a:pt x="34" y="178"/>
                    </a:cubicBezTo>
                    <a:cubicBezTo>
                      <a:pt x="34" y="175"/>
                      <a:pt x="34" y="172"/>
                      <a:pt x="33" y="168"/>
                    </a:cubicBezTo>
                    <a:cubicBezTo>
                      <a:pt x="33" y="161"/>
                      <a:pt x="32" y="160"/>
                      <a:pt x="31" y="166"/>
                    </a:cubicBezTo>
                    <a:cubicBezTo>
                      <a:pt x="31" y="168"/>
                      <a:pt x="31" y="170"/>
                      <a:pt x="31" y="172"/>
                    </a:cubicBezTo>
                    <a:cubicBezTo>
                      <a:pt x="31" y="173"/>
                      <a:pt x="31" y="174"/>
                      <a:pt x="30" y="172"/>
                    </a:cubicBezTo>
                    <a:cubicBezTo>
                      <a:pt x="30" y="171"/>
                      <a:pt x="30" y="170"/>
                      <a:pt x="29" y="168"/>
                    </a:cubicBezTo>
                    <a:cubicBezTo>
                      <a:pt x="28" y="165"/>
                      <a:pt x="28" y="165"/>
                      <a:pt x="28" y="169"/>
                    </a:cubicBezTo>
                    <a:cubicBezTo>
                      <a:pt x="28" y="171"/>
                      <a:pt x="28" y="172"/>
                      <a:pt x="28" y="174"/>
                    </a:cubicBezTo>
                    <a:cubicBezTo>
                      <a:pt x="28" y="175"/>
                      <a:pt x="28" y="175"/>
                      <a:pt x="27" y="175"/>
                    </a:cubicBezTo>
                    <a:cubicBezTo>
                      <a:pt x="13" y="162"/>
                      <a:pt x="13" y="142"/>
                      <a:pt x="26" y="123"/>
                    </a:cubicBezTo>
                    <a:cubicBezTo>
                      <a:pt x="26" y="123"/>
                      <a:pt x="26" y="123"/>
                      <a:pt x="26" y="122"/>
                    </a:cubicBezTo>
                    <a:cubicBezTo>
                      <a:pt x="23" y="122"/>
                      <a:pt x="23" y="119"/>
                      <a:pt x="26" y="118"/>
                    </a:cubicBezTo>
                    <a:cubicBezTo>
                      <a:pt x="26" y="118"/>
                      <a:pt x="26" y="118"/>
                      <a:pt x="26" y="118"/>
                    </a:cubicBezTo>
                    <a:cubicBezTo>
                      <a:pt x="26" y="116"/>
                      <a:pt x="25" y="114"/>
                      <a:pt x="25" y="112"/>
                    </a:cubicBezTo>
                    <a:cubicBezTo>
                      <a:pt x="25" y="110"/>
                      <a:pt x="27" y="104"/>
                      <a:pt x="30" y="105"/>
                    </a:cubicBezTo>
                    <a:cubicBezTo>
                      <a:pt x="31" y="106"/>
                      <a:pt x="31" y="106"/>
                      <a:pt x="32" y="105"/>
                    </a:cubicBezTo>
                    <a:cubicBezTo>
                      <a:pt x="32" y="105"/>
                      <a:pt x="32" y="105"/>
                      <a:pt x="32" y="104"/>
                    </a:cubicBezTo>
                    <a:cubicBezTo>
                      <a:pt x="32" y="68"/>
                      <a:pt x="32" y="68"/>
                      <a:pt x="32" y="68"/>
                    </a:cubicBezTo>
                    <a:cubicBezTo>
                      <a:pt x="32" y="67"/>
                      <a:pt x="32" y="65"/>
                      <a:pt x="30" y="65"/>
                    </a:cubicBezTo>
                    <a:cubicBezTo>
                      <a:pt x="4" y="54"/>
                      <a:pt x="4" y="54"/>
                      <a:pt x="4" y="54"/>
                    </a:cubicBezTo>
                    <a:cubicBezTo>
                      <a:pt x="0" y="52"/>
                      <a:pt x="0" y="46"/>
                      <a:pt x="4" y="45"/>
                    </a:cubicBezTo>
                    <a:cubicBezTo>
                      <a:pt x="154" y="0"/>
                      <a:pt x="154" y="0"/>
                      <a:pt x="154" y="0"/>
                    </a:cubicBezTo>
                    <a:cubicBezTo>
                      <a:pt x="157" y="0"/>
                      <a:pt x="159" y="0"/>
                      <a:pt x="162" y="0"/>
                    </a:cubicBezTo>
                    <a:cubicBezTo>
                      <a:pt x="311" y="45"/>
                      <a:pt x="311" y="45"/>
                      <a:pt x="311" y="45"/>
                    </a:cubicBezTo>
                    <a:cubicBezTo>
                      <a:pt x="316" y="46"/>
                      <a:pt x="316" y="52"/>
                      <a:pt x="312" y="54"/>
                    </a:cubicBezTo>
                    <a:cubicBezTo>
                      <a:pt x="163" y="116"/>
                      <a:pt x="163" y="116"/>
                      <a:pt x="163" y="116"/>
                    </a:cubicBezTo>
                    <a:cubicBezTo>
                      <a:pt x="160" y="118"/>
                      <a:pt x="156" y="118"/>
                      <a:pt x="153" y="116"/>
                    </a:cubicBezTo>
                    <a:cubicBezTo>
                      <a:pt x="43" y="70"/>
                      <a:pt x="43" y="70"/>
                      <a:pt x="43" y="70"/>
                    </a:cubicBezTo>
                    <a:cubicBezTo>
                      <a:pt x="41" y="69"/>
                      <a:pt x="39" y="71"/>
                      <a:pt x="39" y="73"/>
                    </a:cubicBezTo>
                    <a:close/>
                  </a:path>
                </a:pathLst>
              </a:custGeom>
              <a:solidFill>
                <a:srgbClr val="3B397A"/>
              </a:solidFill>
              <a:ln w="9525">
                <a:solidFill>
                  <a:schemeClr val="bg1"/>
                </a:solidFill>
                <a:round/>
              </a:ln>
            </p:spPr>
            <p:style>
              <a:lnRef idx="2">
                <a:schemeClr val="dk1"/>
              </a:lnRef>
              <a:fillRef idx="1">
                <a:schemeClr val="lt1"/>
              </a:fillRef>
              <a:effectRef idx="0">
                <a:schemeClr val="dk1"/>
              </a:effectRef>
              <a:fontRef idx="minor">
                <a:schemeClr val="dk1"/>
              </a:fontRef>
            </p:style>
            <p:txBody>
              <a:bodyPr vert="horz" wrap="square" lIns="128580" tIns="64290" rIns="128580" bIns="64290" numCol="1" anchor="t" anchorCtr="0" compatLnSpc="1"/>
              <a:lstStyle/>
              <a:p>
                <a:endParaRPr lang="zh-CN" altLang="en-US">
                  <a:solidFill>
                    <a:prstClr val="black"/>
                  </a:solidFill>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20" name="等腰三角形 19"/>
          <p:cNvSpPr/>
          <p:nvPr userDrawn="1"/>
        </p:nvSpPr>
        <p:spPr>
          <a:xfrm>
            <a:off x="1878297" y="5047109"/>
            <a:ext cx="2589498" cy="1810893"/>
          </a:xfrm>
          <a:prstGeom prst="triangle">
            <a:avLst/>
          </a:prstGeom>
          <a:solidFill>
            <a:srgbClr val="F0F1FA"/>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nvSpPr>
        <p:spPr>
          <a:xfrm rot="10800000" flipH="1">
            <a:off x="1878295" y="-10276"/>
            <a:ext cx="2589496" cy="1810892"/>
          </a:xfrm>
          <a:prstGeom prst="triangle">
            <a:avLst/>
          </a:prstGeom>
          <a:solidFill>
            <a:srgbClr val="F0F1FA"/>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userDrawn="1"/>
        </p:nvSpPr>
        <p:spPr>
          <a:xfrm rot="5400000">
            <a:off x="-967947" y="1520704"/>
            <a:ext cx="6868281" cy="3806313"/>
          </a:xfrm>
          <a:custGeom>
            <a:avLst/>
            <a:gdLst>
              <a:gd name="connsiteX0" fmla="*/ 0 w 6868281"/>
              <a:gd name="connsiteY0" fmla="*/ 3806313 h 3806313"/>
              <a:gd name="connsiteX1" fmla="*/ 0 w 6868281"/>
              <a:gd name="connsiteY1" fmla="*/ 2463749 h 3806313"/>
              <a:gd name="connsiteX2" fmla="*/ 3510721 w 6868281"/>
              <a:gd name="connsiteY2" fmla="*/ 0 h 3806313"/>
              <a:gd name="connsiteX3" fmla="*/ 6868281 w 6868281"/>
              <a:gd name="connsiteY3" fmla="*/ 2356266 h 3806313"/>
              <a:gd name="connsiteX4" fmla="*/ 6868281 w 6868281"/>
              <a:gd name="connsiteY4" fmla="*/ 3806313 h 3806313"/>
              <a:gd name="connsiteX5" fmla="*/ 0 w 6868281"/>
              <a:gd name="connsiteY5" fmla="*/ 3806313 h 3806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8281" h="3806313">
                <a:moveTo>
                  <a:pt x="0" y="3806313"/>
                </a:moveTo>
                <a:lnTo>
                  <a:pt x="0" y="2463749"/>
                </a:lnTo>
                <a:lnTo>
                  <a:pt x="3510721" y="0"/>
                </a:lnTo>
                <a:lnTo>
                  <a:pt x="6868281" y="2356266"/>
                </a:lnTo>
                <a:lnTo>
                  <a:pt x="6868281" y="3806313"/>
                </a:lnTo>
                <a:lnTo>
                  <a:pt x="0" y="3806313"/>
                </a:lnTo>
                <a:close/>
              </a:path>
            </a:pathLst>
          </a:custGeom>
          <a:solidFill>
            <a:srgbClr val="F0F1FA"/>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 name="等腰三角形 22"/>
          <p:cNvSpPr/>
          <p:nvPr userDrawn="1"/>
        </p:nvSpPr>
        <p:spPr>
          <a:xfrm>
            <a:off x="1320939" y="5047107"/>
            <a:ext cx="2589498" cy="1810893"/>
          </a:xfrm>
          <a:prstGeom prst="triangle">
            <a:avLst/>
          </a:prstGeom>
          <a:solidFill>
            <a:srgbClr val="CFD3E8"/>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userDrawn="1"/>
        </p:nvSpPr>
        <p:spPr>
          <a:xfrm rot="10800000" flipH="1">
            <a:off x="1320937" y="-10279"/>
            <a:ext cx="2589496" cy="1810892"/>
          </a:xfrm>
          <a:prstGeom prst="triangle">
            <a:avLst/>
          </a:prstGeom>
          <a:solidFill>
            <a:srgbClr val="CFD3E8"/>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userDrawn="1"/>
        </p:nvSpPr>
        <p:spPr>
          <a:xfrm rot="5400000">
            <a:off x="-1530984" y="1520704"/>
            <a:ext cx="6868279" cy="3806313"/>
          </a:xfrm>
          <a:custGeom>
            <a:avLst/>
            <a:gdLst>
              <a:gd name="connsiteX0" fmla="*/ 0 w 6868279"/>
              <a:gd name="connsiteY0" fmla="*/ 3806313 h 3806313"/>
              <a:gd name="connsiteX1" fmla="*/ 0 w 6868279"/>
              <a:gd name="connsiteY1" fmla="*/ 2463749 h 3806313"/>
              <a:gd name="connsiteX2" fmla="*/ 3510719 w 6868279"/>
              <a:gd name="connsiteY2" fmla="*/ 0 h 3806313"/>
              <a:gd name="connsiteX3" fmla="*/ 6868279 w 6868279"/>
              <a:gd name="connsiteY3" fmla="*/ 2356266 h 3806313"/>
              <a:gd name="connsiteX4" fmla="*/ 6868279 w 6868279"/>
              <a:gd name="connsiteY4" fmla="*/ 3806313 h 3806313"/>
              <a:gd name="connsiteX5" fmla="*/ 0 w 6868279"/>
              <a:gd name="connsiteY5" fmla="*/ 3806313 h 3806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8279" h="3806313">
                <a:moveTo>
                  <a:pt x="0" y="3806313"/>
                </a:moveTo>
                <a:lnTo>
                  <a:pt x="0" y="2463749"/>
                </a:lnTo>
                <a:lnTo>
                  <a:pt x="3510719" y="0"/>
                </a:lnTo>
                <a:lnTo>
                  <a:pt x="6868279" y="2356266"/>
                </a:lnTo>
                <a:lnTo>
                  <a:pt x="6868279" y="3806313"/>
                </a:lnTo>
                <a:lnTo>
                  <a:pt x="0" y="3806313"/>
                </a:lnTo>
                <a:close/>
              </a:path>
            </a:pathLst>
          </a:custGeom>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直角三角形 7"/>
          <p:cNvSpPr/>
          <p:nvPr userDrawn="1"/>
        </p:nvSpPr>
        <p:spPr>
          <a:xfrm flipV="1">
            <a:off x="119336" y="146699"/>
            <a:ext cx="1728192" cy="172819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角三角形 8"/>
          <p:cNvSpPr/>
          <p:nvPr userDrawn="1"/>
        </p:nvSpPr>
        <p:spPr>
          <a:xfrm rot="10800000" flipV="1">
            <a:off x="10344472" y="5003956"/>
            <a:ext cx="1728192" cy="172819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05" y="0"/>
            <a:ext cx="12188389"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userDrawn="1"/>
        </p:nvSpPr>
        <p:spPr>
          <a:xfrm>
            <a:off x="0" y="0"/>
            <a:ext cx="12191028" cy="6858000"/>
          </a:xfrm>
          <a:prstGeom prst="rect">
            <a:avLst/>
          </a:prstGeom>
          <a:solidFill>
            <a:srgbClr val="FAFB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5.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9.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p:cNvSpPr txBox="1"/>
          <p:nvPr/>
        </p:nvSpPr>
        <p:spPr>
          <a:xfrm>
            <a:off x="4515561" y="2921168"/>
            <a:ext cx="3262432" cy="1015663"/>
          </a:xfrm>
          <a:prstGeom prst="rect">
            <a:avLst/>
          </a:prstGeom>
          <a:noFill/>
        </p:spPr>
        <p:txBody>
          <a:bodyPr wrap="none" rtlCol="0" anchor="ctr">
            <a:spAutoFit/>
          </a:bodyPr>
          <a:lstStyle>
            <a:defPPr>
              <a:defRPr lang="zh-CN"/>
            </a:defPPr>
            <a:lvl1pPr algn="ctr">
              <a:defRPr sz="75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sz="6000" dirty="0">
                <a:effectLst/>
                <a:latin typeface="+mn-lt"/>
                <a:ea typeface="+mn-ea"/>
                <a:cs typeface="+mn-ea"/>
                <a:sym typeface="+mn-lt"/>
              </a:rPr>
              <a:t>博览群篇</a:t>
            </a:r>
            <a:endParaRPr lang="zh-CN" sz="6000" dirty="0">
              <a:effectLst/>
              <a:latin typeface="+mn-lt"/>
              <a:ea typeface="+mn-ea"/>
              <a:cs typeface="+mn-ea"/>
              <a:sym typeface="+mn-lt"/>
            </a:endParaRPr>
          </a:p>
        </p:txBody>
      </p:sp>
      <p:sp>
        <p:nvSpPr>
          <p:cNvPr id="72" name="文本框 71"/>
          <p:cNvSpPr txBox="1"/>
          <p:nvPr/>
        </p:nvSpPr>
        <p:spPr>
          <a:xfrm>
            <a:off x="3379933" y="4913583"/>
            <a:ext cx="5428088" cy="461665"/>
          </a:xfrm>
          <a:prstGeom prst="rect">
            <a:avLst/>
          </a:prstGeom>
          <a:noFill/>
        </p:spPr>
        <p:txBody>
          <a:bodyPr wrap="none" rtlCol="0" anchor="ctr">
            <a:spAutoFit/>
          </a:bodyPr>
          <a:lstStyle>
            <a:defPPr>
              <a:defRPr lang="zh-CN"/>
            </a:defPPr>
            <a:lvl1pPr algn="ctr">
              <a:defRPr sz="24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effectLst/>
                <a:latin typeface="+mn-lt"/>
                <a:ea typeface="+mn-ea"/>
                <a:cs typeface="+mn-ea"/>
                <a:sym typeface="+mn-lt"/>
              </a:rPr>
              <a:t>指导教师：唐中正           答辩人：孙源</a:t>
            </a:r>
          </a:p>
        </p:txBody>
      </p:sp>
      <p:sp>
        <p:nvSpPr>
          <p:cNvPr id="87" name="文本框 86"/>
          <p:cNvSpPr txBox="1"/>
          <p:nvPr/>
        </p:nvSpPr>
        <p:spPr>
          <a:xfrm>
            <a:off x="3019379" y="4021123"/>
            <a:ext cx="6254795" cy="713681"/>
          </a:xfrm>
          <a:prstGeom prst="rect">
            <a:avLst/>
          </a:prstGeom>
          <a:noFill/>
        </p:spPr>
        <p:txBody>
          <a:bodyPr wrap="square" rtlCol="0" anchor="ctr">
            <a:noAutofit/>
          </a:bodyPr>
          <a:lstStyle>
            <a:defPPr>
              <a:defRPr lang="zh-CN"/>
            </a:defPPr>
            <a:lvl1pPr>
              <a:lnSpc>
                <a:spcPct val="130000"/>
              </a:lnSpc>
              <a:defRPr sz="1200">
                <a:solidFill>
                  <a:schemeClr val="tx2"/>
                </a:solidFill>
                <a:latin typeface="Open Sans Light"/>
                <a:cs typeface="Open Sans Light"/>
              </a:defRPr>
            </a:lvl1pPr>
          </a:lstStyle>
          <a:p>
            <a:pPr algn="ctr"/>
            <a:r>
              <a:rPr lang="zh-CN" altLang="en-US" sz="2000" dirty="0">
                <a:latin typeface="+mn-lt"/>
                <a:cs typeface="+mn-ea"/>
                <a:sym typeface="+mn-lt"/>
              </a:rPr>
              <a:t>智能驱动的文献分析可视化工具</a:t>
            </a:r>
          </a:p>
        </p:txBody>
      </p:sp>
      <p:grpSp>
        <p:nvGrpSpPr>
          <p:cNvPr id="3" name="组合 2"/>
          <p:cNvGrpSpPr/>
          <p:nvPr/>
        </p:nvGrpSpPr>
        <p:grpSpPr>
          <a:xfrm>
            <a:off x="5474146" y="1052736"/>
            <a:ext cx="1243705" cy="1204358"/>
            <a:chOff x="5474146" y="1055546"/>
            <a:chExt cx="1243705" cy="1204358"/>
          </a:xfrm>
          <a:effectLst>
            <a:outerShdw blurRad="114300" dist="63500" dir="2700000" algn="tl" rotWithShape="0">
              <a:prstClr val="black">
                <a:alpha val="10000"/>
              </a:prstClr>
            </a:outerShdw>
          </a:effectLst>
        </p:grpSpPr>
        <p:sp>
          <p:nvSpPr>
            <p:cNvPr id="16" name="Oval 5"/>
            <p:cNvSpPr>
              <a:spLocks noChangeArrowheads="1"/>
            </p:cNvSpPr>
            <p:nvPr/>
          </p:nvSpPr>
          <p:spPr bwMode="auto">
            <a:xfrm>
              <a:off x="5474146" y="1055546"/>
              <a:ext cx="1243705" cy="1204358"/>
            </a:xfrm>
            <a:prstGeom prst="ellipse">
              <a:avLst/>
            </a:prstGeom>
            <a:solidFill>
              <a:srgbClr val="CFD3E8"/>
            </a:solidFill>
            <a:ln w="57150">
              <a:solidFill>
                <a:schemeClr val="bg1"/>
              </a:solidFill>
              <a:round/>
            </a:ln>
          </p:spPr>
          <p:txBody>
            <a:bodyPr vert="horz" wrap="square" lIns="128580" tIns="64290" rIns="128580" bIns="64290" numCol="1" anchor="t" anchorCtr="0" compatLnSpc="1"/>
            <a:lstStyle/>
            <a:p>
              <a:endParaRPr lang="zh-CN" altLang="en-US">
                <a:solidFill>
                  <a:prstClr val="black"/>
                </a:solidFill>
                <a:cs typeface="+mn-ea"/>
                <a:sym typeface="+mn-lt"/>
              </a:endParaRPr>
            </a:p>
          </p:txBody>
        </p:sp>
        <p:grpSp>
          <p:nvGrpSpPr>
            <p:cNvPr id="2" name="组合 1"/>
            <p:cNvGrpSpPr/>
            <p:nvPr/>
          </p:nvGrpSpPr>
          <p:grpSpPr>
            <a:xfrm>
              <a:off x="5600206" y="1384823"/>
              <a:ext cx="1087893" cy="845662"/>
              <a:chOff x="5552848" y="1343115"/>
              <a:chExt cx="1138005" cy="884616"/>
            </a:xfrm>
          </p:grpSpPr>
          <p:sp>
            <p:nvSpPr>
              <p:cNvPr id="17" name="Freeform 6"/>
              <p:cNvSpPr/>
              <p:nvPr/>
            </p:nvSpPr>
            <p:spPr bwMode="auto">
              <a:xfrm>
                <a:off x="5558339" y="1489662"/>
                <a:ext cx="1132514" cy="738069"/>
              </a:xfrm>
              <a:custGeom>
                <a:avLst/>
                <a:gdLst>
                  <a:gd name="T0" fmla="*/ 346 w 346"/>
                  <a:gd name="T1" fmla="*/ 43 h 233"/>
                  <a:gd name="T2" fmla="*/ 156 w 346"/>
                  <a:gd name="T3" fmla="*/ 233 h 233"/>
                  <a:gd name="T4" fmla="*/ 128 w 346"/>
                  <a:gd name="T5" fmla="*/ 231 h 233"/>
                  <a:gd name="T6" fmla="*/ 24 w 346"/>
                  <a:gd name="T7" fmla="*/ 127 h 233"/>
                  <a:gd name="T8" fmla="*/ 22 w 346"/>
                  <a:gd name="T9" fmla="*/ 118 h 233"/>
                  <a:gd name="T10" fmla="*/ 32 w 346"/>
                  <a:gd name="T11" fmla="*/ 86 h 233"/>
                  <a:gd name="T12" fmla="*/ 22 w 346"/>
                  <a:gd name="T13" fmla="*/ 76 h 233"/>
                  <a:gd name="T14" fmla="*/ 32 w 346"/>
                  <a:gd name="T15" fmla="*/ 72 h 233"/>
                  <a:gd name="T16" fmla="*/ 33 w 346"/>
                  <a:gd name="T17" fmla="*/ 39 h 233"/>
                  <a:gd name="T18" fmla="*/ 0 w 346"/>
                  <a:gd name="T19" fmla="*/ 7 h 233"/>
                  <a:gd name="T20" fmla="*/ 312 w 346"/>
                  <a:gd name="T21" fmla="*/ 0 h 233"/>
                  <a:gd name="T22" fmla="*/ 346 w 346"/>
                  <a:gd name="T23" fmla="*/ 34 h 233"/>
                  <a:gd name="T24" fmla="*/ 346 w 346"/>
                  <a:gd name="T25" fmla="*/ 43 h 233"/>
                  <a:gd name="connsiteX0" fmla="*/ 10000 w 10000"/>
                  <a:gd name="connsiteY0" fmla="*/ 1845 h 10000"/>
                  <a:gd name="connsiteX1" fmla="*/ 4509 w 10000"/>
                  <a:gd name="connsiteY1" fmla="*/ 10000 h 10000"/>
                  <a:gd name="connsiteX2" fmla="*/ 3699 w 10000"/>
                  <a:gd name="connsiteY2" fmla="*/ 9914 h 10000"/>
                  <a:gd name="connsiteX3" fmla="*/ 694 w 10000"/>
                  <a:gd name="connsiteY3" fmla="*/ 5451 h 10000"/>
                  <a:gd name="connsiteX4" fmla="*/ 636 w 10000"/>
                  <a:gd name="connsiteY4" fmla="*/ 5064 h 10000"/>
                  <a:gd name="connsiteX5" fmla="*/ 925 w 10000"/>
                  <a:gd name="connsiteY5" fmla="*/ 3691 h 10000"/>
                  <a:gd name="connsiteX6" fmla="*/ 636 w 10000"/>
                  <a:gd name="connsiteY6" fmla="*/ 3262 h 10000"/>
                  <a:gd name="connsiteX7" fmla="*/ 925 w 10000"/>
                  <a:gd name="connsiteY7" fmla="*/ 3090 h 10000"/>
                  <a:gd name="connsiteX8" fmla="*/ 954 w 10000"/>
                  <a:gd name="connsiteY8" fmla="*/ 1674 h 10000"/>
                  <a:gd name="connsiteX9" fmla="*/ 0 w 10000"/>
                  <a:gd name="connsiteY9" fmla="*/ 300 h 10000"/>
                  <a:gd name="connsiteX10" fmla="*/ 9017 w 10000"/>
                  <a:gd name="connsiteY10" fmla="*/ 0 h 10000"/>
                  <a:gd name="connsiteX11" fmla="*/ 10000 w 10000"/>
                  <a:gd name="connsiteY11" fmla="*/ 1459 h 10000"/>
                  <a:gd name="connsiteX12" fmla="*/ 10000 w 10000"/>
                  <a:gd name="connsiteY12" fmla="*/ 1845 h 10000"/>
                  <a:gd name="connsiteX0-1" fmla="*/ 10000 w 10000"/>
                  <a:gd name="connsiteY0-2" fmla="*/ 1845 h 10000"/>
                  <a:gd name="connsiteX1-3" fmla="*/ 4509 w 10000"/>
                  <a:gd name="connsiteY1-4" fmla="*/ 10000 h 10000"/>
                  <a:gd name="connsiteX2-5" fmla="*/ 3699 w 10000"/>
                  <a:gd name="connsiteY2-6" fmla="*/ 9914 h 10000"/>
                  <a:gd name="connsiteX3-7" fmla="*/ 694 w 10000"/>
                  <a:gd name="connsiteY3-8" fmla="*/ 5451 h 10000"/>
                  <a:gd name="connsiteX4-9" fmla="*/ 636 w 10000"/>
                  <a:gd name="connsiteY4-10" fmla="*/ 5064 h 10000"/>
                  <a:gd name="connsiteX5-11" fmla="*/ 925 w 10000"/>
                  <a:gd name="connsiteY5-12" fmla="*/ 3691 h 10000"/>
                  <a:gd name="connsiteX6-13" fmla="*/ 636 w 10000"/>
                  <a:gd name="connsiteY6-14" fmla="*/ 3262 h 10000"/>
                  <a:gd name="connsiteX7-15" fmla="*/ 925 w 10000"/>
                  <a:gd name="connsiteY7-16" fmla="*/ 3090 h 10000"/>
                  <a:gd name="connsiteX8-17" fmla="*/ 954 w 10000"/>
                  <a:gd name="connsiteY8-18" fmla="*/ 1674 h 10000"/>
                  <a:gd name="connsiteX9-19" fmla="*/ 0 w 10000"/>
                  <a:gd name="connsiteY9-20" fmla="*/ 300 h 10000"/>
                  <a:gd name="connsiteX10-21" fmla="*/ 9017 w 10000"/>
                  <a:gd name="connsiteY10-22" fmla="*/ 0 h 10000"/>
                  <a:gd name="connsiteX11-23" fmla="*/ 10000 w 10000"/>
                  <a:gd name="connsiteY11-24" fmla="*/ 1459 h 10000"/>
                  <a:gd name="connsiteX12-25" fmla="*/ 10000 w 10000"/>
                  <a:gd name="connsiteY12-26" fmla="*/ 1845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0000" h="10000">
                    <a:moveTo>
                      <a:pt x="10000" y="1845"/>
                    </a:moveTo>
                    <a:cubicBezTo>
                      <a:pt x="10000" y="6352"/>
                      <a:pt x="7693" y="10066"/>
                      <a:pt x="4509" y="10000"/>
                    </a:cubicBezTo>
                    <a:cubicBezTo>
                      <a:pt x="4220" y="9994"/>
                      <a:pt x="3960" y="10000"/>
                      <a:pt x="3699" y="9914"/>
                    </a:cubicBezTo>
                    <a:lnTo>
                      <a:pt x="694" y="5451"/>
                    </a:lnTo>
                    <a:cubicBezTo>
                      <a:pt x="675" y="5322"/>
                      <a:pt x="655" y="5193"/>
                      <a:pt x="636" y="5064"/>
                    </a:cubicBezTo>
                    <a:cubicBezTo>
                      <a:pt x="732" y="4606"/>
                      <a:pt x="829" y="4149"/>
                      <a:pt x="925" y="3691"/>
                    </a:cubicBezTo>
                    <a:lnTo>
                      <a:pt x="636" y="3262"/>
                    </a:lnTo>
                    <a:lnTo>
                      <a:pt x="925" y="3090"/>
                    </a:lnTo>
                    <a:cubicBezTo>
                      <a:pt x="935" y="2618"/>
                      <a:pt x="944" y="2146"/>
                      <a:pt x="954" y="1674"/>
                    </a:cubicBezTo>
                    <a:lnTo>
                      <a:pt x="0" y="300"/>
                    </a:lnTo>
                    <a:lnTo>
                      <a:pt x="9017" y="0"/>
                    </a:lnTo>
                    <a:lnTo>
                      <a:pt x="10000" y="1459"/>
                    </a:lnTo>
                    <a:lnTo>
                      <a:pt x="10000" y="1845"/>
                    </a:lnTo>
                    <a:close/>
                  </a:path>
                </a:pathLst>
              </a:custGeom>
              <a:solidFill>
                <a:srgbClr val="A7AFD5"/>
              </a:solid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endParaRPr lang="zh-CN" altLang="en-US">
                  <a:solidFill>
                    <a:prstClr val="black"/>
                  </a:solidFill>
                  <a:cs typeface="+mn-ea"/>
                  <a:sym typeface="+mn-lt"/>
                </a:endParaRPr>
              </a:p>
            </p:txBody>
          </p:sp>
          <p:sp>
            <p:nvSpPr>
              <p:cNvPr id="18" name="Freeform 7"/>
              <p:cNvSpPr>
                <a:spLocks noEditPoints="1"/>
              </p:cNvSpPr>
              <p:nvPr/>
            </p:nvSpPr>
            <p:spPr bwMode="auto">
              <a:xfrm>
                <a:off x="5552848" y="1343115"/>
                <a:ext cx="1033676" cy="567542"/>
              </a:xfrm>
              <a:custGeom>
                <a:avLst/>
                <a:gdLst>
                  <a:gd name="T0" fmla="*/ 72 w 316"/>
                  <a:gd name="T1" fmla="*/ 96 h 179"/>
                  <a:gd name="T2" fmla="*/ 72 w 316"/>
                  <a:gd name="T3" fmla="*/ 133 h 179"/>
                  <a:gd name="T4" fmla="*/ 244 w 316"/>
                  <a:gd name="T5" fmla="*/ 133 h 179"/>
                  <a:gd name="T6" fmla="*/ 244 w 316"/>
                  <a:gd name="T7" fmla="*/ 96 h 179"/>
                  <a:gd name="T8" fmla="*/ 237 w 316"/>
                  <a:gd name="T9" fmla="*/ 91 h 179"/>
                  <a:gd name="T10" fmla="*/ 163 w 316"/>
                  <a:gd name="T11" fmla="*/ 122 h 179"/>
                  <a:gd name="T12" fmla="*/ 153 w 316"/>
                  <a:gd name="T13" fmla="*/ 122 h 179"/>
                  <a:gd name="T14" fmla="*/ 80 w 316"/>
                  <a:gd name="T15" fmla="*/ 91 h 179"/>
                  <a:gd name="T16" fmla="*/ 72 w 316"/>
                  <a:gd name="T17" fmla="*/ 96 h 179"/>
                  <a:gd name="T18" fmla="*/ 39 w 316"/>
                  <a:gd name="T19" fmla="*/ 73 h 179"/>
                  <a:gd name="T20" fmla="*/ 39 w 316"/>
                  <a:gd name="T21" fmla="*/ 106 h 179"/>
                  <a:gd name="T22" fmla="*/ 39 w 316"/>
                  <a:gd name="T23" fmla="*/ 107 h 179"/>
                  <a:gd name="T24" fmla="*/ 41 w 316"/>
                  <a:gd name="T25" fmla="*/ 107 h 179"/>
                  <a:gd name="T26" fmla="*/ 45 w 316"/>
                  <a:gd name="T27" fmla="*/ 112 h 179"/>
                  <a:gd name="T28" fmla="*/ 44 w 316"/>
                  <a:gd name="T29" fmla="*/ 119 h 179"/>
                  <a:gd name="T30" fmla="*/ 44 w 316"/>
                  <a:gd name="T31" fmla="*/ 119 h 179"/>
                  <a:gd name="T32" fmla="*/ 44 w 316"/>
                  <a:gd name="T33" fmla="*/ 123 h 179"/>
                  <a:gd name="T34" fmla="*/ 44 w 316"/>
                  <a:gd name="T35" fmla="*/ 124 h 179"/>
                  <a:gd name="T36" fmla="*/ 42 w 316"/>
                  <a:gd name="T37" fmla="*/ 174 h 179"/>
                  <a:gd name="T38" fmla="*/ 41 w 316"/>
                  <a:gd name="T39" fmla="*/ 174 h 179"/>
                  <a:gd name="T40" fmla="*/ 42 w 316"/>
                  <a:gd name="T41" fmla="*/ 169 h 179"/>
                  <a:gd name="T42" fmla="*/ 40 w 316"/>
                  <a:gd name="T43" fmla="*/ 169 h 179"/>
                  <a:gd name="T44" fmla="*/ 35 w 316"/>
                  <a:gd name="T45" fmla="*/ 179 h 179"/>
                  <a:gd name="T46" fmla="*/ 34 w 316"/>
                  <a:gd name="T47" fmla="*/ 178 h 179"/>
                  <a:gd name="T48" fmla="*/ 33 w 316"/>
                  <a:gd name="T49" fmla="*/ 168 h 179"/>
                  <a:gd name="T50" fmla="*/ 31 w 316"/>
                  <a:gd name="T51" fmla="*/ 166 h 179"/>
                  <a:gd name="T52" fmla="*/ 31 w 316"/>
                  <a:gd name="T53" fmla="*/ 172 h 179"/>
                  <a:gd name="T54" fmla="*/ 30 w 316"/>
                  <a:gd name="T55" fmla="*/ 172 h 179"/>
                  <a:gd name="T56" fmla="*/ 29 w 316"/>
                  <a:gd name="T57" fmla="*/ 168 h 179"/>
                  <a:gd name="T58" fmla="*/ 28 w 316"/>
                  <a:gd name="T59" fmla="*/ 169 h 179"/>
                  <a:gd name="T60" fmla="*/ 28 w 316"/>
                  <a:gd name="T61" fmla="*/ 174 h 179"/>
                  <a:gd name="T62" fmla="*/ 27 w 316"/>
                  <a:gd name="T63" fmla="*/ 175 h 179"/>
                  <a:gd name="T64" fmla="*/ 26 w 316"/>
                  <a:gd name="T65" fmla="*/ 123 h 179"/>
                  <a:gd name="T66" fmla="*/ 26 w 316"/>
                  <a:gd name="T67" fmla="*/ 122 h 179"/>
                  <a:gd name="T68" fmla="*/ 26 w 316"/>
                  <a:gd name="T69" fmla="*/ 118 h 179"/>
                  <a:gd name="T70" fmla="*/ 26 w 316"/>
                  <a:gd name="T71" fmla="*/ 118 h 179"/>
                  <a:gd name="T72" fmla="*/ 25 w 316"/>
                  <a:gd name="T73" fmla="*/ 112 h 179"/>
                  <a:gd name="T74" fmla="*/ 30 w 316"/>
                  <a:gd name="T75" fmla="*/ 105 h 179"/>
                  <a:gd name="T76" fmla="*/ 32 w 316"/>
                  <a:gd name="T77" fmla="*/ 105 h 179"/>
                  <a:gd name="T78" fmla="*/ 32 w 316"/>
                  <a:gd name="T79" fmla="*/ 104 h 179"/>
                  <a:gd name="T80" fmla="*/ 32 w 316"/>
                  <a:gd name="T81" fmla="*/ 68 h 179"/>
                  <a:gd name="T82" fmla="*/ 30 w 316"/>
                  <a:gd name="T83" fmla="*/ 65 h 179"/>
                  <a:gd name="T84" fmla="*/ 4 w 316"/>
                  <a:gd name="T85" fmla="*/ 54 h 179"/>
                  <a:gd name="T86" fmla="*/ 4 w 316"/>
                  <a:gd name="T87" fmla="*/ 45 h 179"/>
                  <a:gd name="T88" fmla="*/ 154 w 316"/>
                  <a:gd name="T89" fmla="*/ 0 h 179"/>
                  <a:gd name="T90" fmla="*/ 162 w 316"/>
                  <a:gd name="T91" fmla="*/ 0 h 179"/>
                  <a:gd name="T92" fmla="*/ 311 w 316"/>
                  <a:gd name="T93" fmla="*/ 45 h 179"/>
                  <a:gd name="T94" fmla="*/ 312 w 316"/>
                  <a:gd name="T95" fmla="*/ 54 h 179"/>
                  <a:gd name="T96" fmla="*/ 163 w 316"/>
                  <a:gd name="T97" fmla="*/ 116 h 179"/>
                  <a:gd name="T98" fmla="*/ 153 w 316"/>
                  <a:gd name="T99" fmla="*/ 116 h 179"/>
                  <a:gd name="T100" fmla="*/ 43 w 316"/>
                  <a:gd name="T101" fmla="*/ 70 h 179"/>
                  <a:gd name="T102" fmla="*/ 39 w 316"/>
                  <a:gd name="T103" fmla="*/ 7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16" h="179">
                    <a:moveTo>
                      <a:pt x="72" y="96"/>
                    </a:moveTo>
                    <a:cubicBezTo>
                      <a:pt x="72" y="133"/>
                      <a:pt x="72" y="133"/>
                      <a:pt x="72" y="133"/>
                    </a:cubicBezTo>
                    <a:cubicBezTo>
                      <a:pt x="72" y="177"/>
                      <a:pt x="244" y="177"/>
                      <a:pt x="244" y="133"/>
                    </a:cubicBezTo>
                    <a:cubicBezTo>
                      <a:pt x="244" y="96"/>
                      <a:pt x="244" y="96"/>
                      <a:pt x="244" y="96"/>
                    </a:cubicBezTo>
                    <a:cubicBezTo>
                      <a:pt x="244" y="92"/>
                      <a:pt x="240" y="89"/>
                      <a:pt x="237" y="91"/>
                    </a:cubicBezTo>
                    <a:cubicBezTo>
                      <a:pt x="163" y="122"/>
                      <a:pt x="163" y="122"/>
                      <a:pt x="163" y="122"/>
                    </a:cubicBezTo>
                    <a:cubicBezTo>
                      <a:pt x="160" y="123"/>
                      <a:pt x="156" y="123"/>
                      <a:pt x="153" y="122"/>
                    </a:cubicBezTo>
                    <a:cubicBezTo>
                      <a:pt x="80" y="91"/>
                      <a:pt x="80" y="91"/>
                      <a:pt x="80" y="91"/>
                    </a:cubicBezTo>
                    <a:cubicBezTo>
                      <a:pt x="76" y="89"/>
                      <a:pt x="72" y="92"/>
                      <a:pt x="72" y="96"/>
                    </a:cubicBezTo>
                    <a:close/>
                    <a:moveTo>
                      <a:pt x="39" y="73"/>
                    </a:moveTo>
                    <a:cubicBezTo>
                      <a:pt x="39" y="106"/>
                      <a:pt x="39" y="106"/>
                      <a:pt x="39" y="106"/>
                    </a:cubicBezTo>
                    <a:cubicBezTo>
                      <a:pt x="39" y="106"/>
                      <a:pt x="39" y="106"/>
                      <a:pt x="39" y="107"/>
                    </a:cubicBezTo>
                    <a:cubicBezTo>
                      <a:pt x="40" y="107"/>
                      <a:pt x="40" y="107"/>
                      <a:pt x="41" y="107"/>
                    </a:cubicBezTo>
                    <a:cubicBezTo>
                      <a:pt x="45" y="105"/>
                      <a:pt x="45" y="109"/>
                      <a:pt x="45" y="112"/>
                    </a:cubicBezTo>
                    <a:cubicBezTo>
                      <a:pt x="45" y="114"/>
                      <a:pt x="45" y="117"/>
                      <a:pt x="44" y="119"/>
                    </a:cubicBezTo>
                    <a:cubicBezTo>
                      <a:pt x="44" y="119"/>
                      <a:pt x="44" y="119"/>
                      <a:pt x="44" y="119"/>
                    </a:cubicBezTo>
                    <a:cubicBezTo>
                      <a:pt x="46" y="120"/>
                      <a:pt x="46" y="123"/>
                      <a:pt x="44" y="123"/>
                    </a:cubicBezTo>
                    <a:cubicBezTo>
                      <a:pt x="44" y="123"/>
                      <a:pt x="44" y="124"/>
                      <a:pt x="44" y="124"/>
                    </a:cubicBezTo>
                    <a:cubicBezTo>
                      <a:pt x="53" y="139"/>
                      <a:pt x="57" y="161"/>
                      <a:pt x="42" y="174"/>
                    </a:cubicBezTo>
                    <a:cubicBezTo>
                      <a:pt x="41" y="175"/>
                      <a:pt x="41" y="175"/>
                      <a:pt x="41" y="174"/>
                    </a:cubicBezTo>
                    <a:cubicBezTo>
                      <a:pt x="41" y="172"/>
                      <a:pt x="42" y="171"/>
                      <a:pt x="42" y="169"/>
                    </a:cubicBezTo>
                    <a:cubicBezTo>
                      <a:pt x="43" y="163"/>
                      <a:pt x="42" y="163"/>
                      <a:pt x="40" y="169"/>
                    </a:cubicBezTo>
                    <a:cubicBezTo>
                      <a:pt x="39" y="173"/>
                      <a:pt x="37" y="176"/>
                      <a:pt x="35" y="179"/>
                    </a:cubicBezTo>
                    <a:cubicBezTo>
                      <a:pt x="35" y="179"/>
                      <a:pt x="34" y="179"/>
                      <a:pt x="34" y="178"/>
                    </a:cubicBezTo>
                    <a:cubicBezTo>
                      <a:pt x="34" y="175"/>
                      <a:pt x="34" y="172"/>
                      <a:pt x="33" y="168"/>
                    </a:cubicBezTo>
                    <a:cubicBezTo>
                      <a:pt x="33" y="161"/>
                      <a:pt x="32" y="160"/>
                      <a:pt x="31" y="166"/>
                    </a:cubicBezTo>
                    <a:cubicBezTo>
                      <a:pt x="31" y="168"/>
                      <a:pt x="31" y="170"/>
                      <a:pt x="31" y="172"/>
                    </a:cubicBezTo>
                    <a:cubicBezTo>
                      <a:pt x="31" y="173"/>
                      <a:pt x="31" y="174"/>
                      <a:pt x="30" y="172"/>
                    </a:cubicBezTo>
                    <a:cubicBezTo>
                      <a:pt x="30" y="171"/>
                      <a:pt x="30" y="170"/>
                      <a:pt x="29" y="168"/>
                    </a:cubicBezTo>
                    <a:cubicBezTo>
                      <a:pt x="28" y="165"/>
                      <a:pt x="28" y="165"/>
                      <a:pt x="28" y="169"/>
                    </a:cubicBezTo>
                    <a:cubicBezTo>
                      <a:pt x="28" y="171"/>
                      <a:pt x="28" y="172"/>
                      <a:pt x="28" y="174"/>
                    </a:cubicBezTo>
                    <a:cubicBezTo>
                      <a:pt x="28" y="175"/>
                      <a:pt x="28" y="175"/>
                      <a:pt x="27" y="175"/>
                    </a:cubicBezTo>
                    <a:cubicBezTo>
                      <a:pt x="13" y="162"/>
                      <a:pt x="13" y="142"/>
                      <a:pt x="26" y="123"/>
                    </a:cubicBezTo>
                    <a:cubicBezTo>
                      <a:pt x="26" y="123"/>
                      <a:pt x="26" y="123"/>
                      <a:pt x="26" y="122"/>
                    </a:cubicBezTo>
                    <a:cubicBezTo>
                      <a:pt x="23" y="122"/>
                      <a:pt x="23" y="119"/>
                      <a:pt x="26" y="118"/>
                    </a:cubicBezTo>
                    <a:cubicBezTo>
                      <a:pt x="26" y="118"/>
                      <a:pt x="26" y="118"/>
                      <a:pt x="26" y="118"/>
                    </a:cubicBezTo>
                    <a:cubicBezTo>
                      <a:pt x="26" y="116"/>
                      <a:pt x="25" y="114"/>
                      <a:pt x="25" y="112"/>
                    </a:cubicBezTo>
                    <a:cubicBezTo>
                      <a:pt x="25" y="110"/>
                      <a:pt x="27" y="104"/>
                      <a:pt x="30" y="105"/>
                    </a:cubicBezTo>
                    <a:cubicBezTo>
                      <a:pt x="31" y="106"/>
                      <a:pt x="31" y="106"/>
                      <a:pt x="32" y="105"/>
                    </a:cubicBezTo>
                    <a:cubicBezTo>
                      <a:pt x="32" y="105"/>
                      <a:pt x="32" y="105"/>
                      <a:pt x="32" y="104"/>
                    </a:cubicBezTo>
                    <a:cubicBezTo>
                      <a:pt x="32" y="68"/>
                      <a:pt x="32" y="68"/>
                      <a:pt x="32" y="68"/>
                    </a:cubicBezTo>
                    <a:cubicBezTo>
                      <a:pt x="32" y="67"/>
                      <a:pt x="32" y="65"/>
                      <a:pt x="30" y="65"/>
                    </a:cubicBezTo>
                    <a:cubicBezTo>
                      <a:pt x="4" y="54"/>
                      <a:pt x="4" y="54"/>
                      <a:pt x="4" y="54"/>
                    </a:cubicBezTo>
                    <a:cubicBezTo>
                      <a:pt x="0" y="52"/>
                      <a:pt x="0" y="46"/>
                      <a:pt x="4" y="45"/>
                    </a:cubicBezTo>
                    <a:cubicBezTo>
                      <a:pt x="154" y="0"/>
                      <a:pt x="154" y="0"/>
                      <a:pt x="154" y="0"/>
                    </a:cubicBezTo>
                    <a:cubicBezTo>
                      <a:pt x="157" y="0"/>
                      <a:pt x="159" y="0"/>
                      <a:pt x="162" y="0"/>
                    </a:cubicBezTo>
                    <a:cubicBezTo>
                      <a:pt x="311" y="45"/>
                      <a:pt x="311" y="45"/>
                      <a:pt x="311" y="45"/>
                    </a:cubicBezTo>
                    <a:cubicBezTo>
                      <a:pt x="316" y="46"/>
                      <a:pt x="316" y="52"/>
                      <a:pt x="312" y="54"/>
                    </a:cubicBezTo>
                    <a:cubicBezTo>
                      <a:pt x="163" y="116"/>
                      <a:pt x="163" y="116"/>
                      <a:pt x="163" y="116"/>
                    </a:cubicBezTo>
                    <a:cubicBezTo>
                      <a:pt x="160" y="118"/>
                      <a:pt x="156" y="118"/>
                      <a:pt x="153" y="116"/>
                    </a:cubicBezTo>
                    <a:cubicBezTo>
                      <a:pt x="43" y="70"/>
                      <a:pt x="43" y="70"/>
                      <a:pt x="43" y="70"/>
                    </a:cubicBezTo>
                    <a:cubicBezTo>
                      <a:pt x="41" y="69"/>
                      <a:pt x="39" y="71"/>
                      <a:pt x="39" y="73"/>
                    </a:cubicBezTo>
                    <a:close/>
                  </a:path>
                </a:pathLst>
              </a:custGeom>
              <a:solidFill>
                <a:srgbClr val="3B397A"/>
              </a:solidFill>
              <a:ln w="9525">
                <a:solidFill>
                  <a:schemeClr val="bg1"/>
                </a:solidFill>
                <a:round/>
              </a:ln>
            </p:spPr>
            <p:style>
              <a:lnRef idx="2">
                <a:schemeClr val="dk1"/>
              </a:lnRef>
              <a:fillRef idx="1">
                <a:schemeClr val="lt1"/>
              </a:fillRef>
              <a:effectRef idx="0">
                <a:schemeClr val="dk1"/>
              </a:effectRef>
              <a:fontRef idx="minor">
                <a:schemeClr val="dk1"/>
              </a:fontRef>
            </p:style>
            <p:txBody>
              <a:bodyPr vert="horz" wrap="square" lIns="128580" tIns="64290" rIns="128580" bIns="64290" numCol="1" anchor="t" anchorCtr="0" compatLnSpc="1"/>
              <a:lstStyle/>
              <a:p>
                <a:endParaRPr lang="zh-CN" altLang="en-US">
                  <a:solidFill>
                    <a:prstClr val="black"/>
                  </a:solidFill>
                  <a:cs typeface="+mn-ea"/>
                  <a:sym typeface="+mn-lt"/>
                </a:endParaRPr>
              </a:p>
            </p:txBody>
          </p:sp>
        </p:grpSp>
      </p:grpSp>
      <p:sp>
        <p:nvSpPr>
          <p:cNvPr id="4" name="直角三角形 3"/>
          <p:cNvSpPr/>
          <p:nvPr/>
        </p:nvSpPr>
        <p:spPr>
          <a:xfrm flipV="1">
            <a:off x="119336" y="146699"/>
            <a:ext cx="1728192" cy="172819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直角三角形 25"/>
          <p:cNvSpPr/>
          <p:nvPr/>
        </p:nvSpPr>
        <p:spPr>
          <a:xfrm rot="10800000" flipV="1">
            <a:off x="10344472" y="5003956"/>
            <a:ext cx="1728192" cy="172819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文本框 118"/>
          <p:cNvSpPr txBox="1"/>
          <p:nvPr/>
        </p:nvSpPr>
        <p:spPr>
          <a:xfrm>
            <a:off x="623392" y="2550501"/>
            <a:ext cx="2299051"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600" normalizeH="0" baseline="0" noProof="0" dirty="0">
                <a:ln>
                  <a:noFill/>
                </a:ln>
                <a:solidFill>
                  <a:schemeClr val="bg1"/>
                </a:solidFill>
                <a:effectLst/>
                <a:uLnTx/>
                <a:uFillTx/>
                <a:cs typeface="+mn-ea"/>
                <a:sym typeface="+mn-lt"/>
              </a:rPr>
              <a:t>目录</a:t>
            </a:r>
          </a:p>
        </p:txBody>
      </p:sp>
      <p:sp>
        <p:nvSpPr>
          <p:cNvPr id="120" name="文本框 119"/>
          <p:cNvSpPr txBox="1"/>
          <p:nvPr/>
        </p:nvSpPr>
        <p:spPr>
          <a:xfrm rot="16200000">
            <a:off x="1526696" y="2865109"/>
            <a:ext cx="492443" cy="2075498"/>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300" normalizeH="0" baseline="0" noProof="0" dirty="0">
                <a:ln>
                  <a:noFill/>
                </a:ln>
                <a:solidFill>
                  <a:schemeClr val="bg1"/>
                </a:solidFill>
                <a:effectLst/>
                <a:uLnTx/>
                <a:uFillTx/>
                <a:cs typeface="+mn-ea"/>
                <a:sym typeface="+mn-lt"/>
              </a:rPr>
              <a:t>CONTENTS</a:t>
            </a:r>
            <a:endParaRPr kumimoji="0" lang="zh-CN" altLang="en-US" sz="2000" b="0" i="0" u="none" strike="noStrike" kern="1200" cap="none" spc="300" normalizeH="0" baseline="0" noProof="0" dirty="0">
              <a:ln>
                <a:noFill/>
              </a:ln>
              <a:solidFill>
                <a:schemeClr val="bg1"/>
              </a:solidFill>
              <a:effectLst/>
              <a:uLnTx/>
              <a:uFillTx/>
              <a:cs typeface="+mn-ea"/>
              <a:sym typeface="+mn-lt"/>
            </a:endParaRPr>
          </a:p>
        </p:txBody>
      </p:sp>
      <p:grpSp>
        <p:nvGrpSpPr>
          <p:cNvPr id="69" name="组合 68"/>
          <p:cNvGrpSpPr/>
          <p:nvPr/>
        </p:nvGrpSpPr>
        <p:grpSpPr>
          <a:xfrm>
            <a:off x="6456040" y="2519185"/>
            <a:ext cx="4644651" cy="45719"/>
            <a:chOff x="6091993" y="1857948"/>
            <a:chExt cx="4644651" cy="45719"/>
          </a:xfrm>
        </p:grpSpPr>
        <p:cxnSp>
          <p:nvCxnSpPr>
            <p:cNvPr id="70" name="直接连接符 69"/>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1" name="椭圆 70"/>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cs typeface="+mn-ea"/>
                <a:sym typeface="+mn-lt"/>
              </a:endParaRPr>
            </a:p>
          </p:txBody>
        </p:sp>
      </p:grpSp>
      <p:sp>
        <p:nvSpPr>
          <p:cNvPr id="72" name="文本占位符 659"/>
          <p:cNvSpPr txBox="1"/>
          <p:nvPr/>
        </p:nvSpPr>
        <p:spPr>
          <a:xfrm>
            <a:off x="6345482" y="2041543"/>
            <a:ext cx="1605280" cy="521970"/>
          </a:xfrm>
          <a:prstGeom prst="rect">
            <a:avLst/>
          </a:prstGeom>
          <a:noFill/>
        </p:spPr>
        <p:txBody>
          <a:bodyPr wrap="none" rtlCol="0" anchor="ctr">
            <a:spAutoFit/>
          </a:bodyPr>
          <a:lstStyle>
            <a:defPPr>
              <a:defRPr lang="zh-CN"/>
            </a:defPPr>
            <a:lvl1pPr>
              <a:defRPr sz="2800">
                <a:solidFill>
                  <a:schemeClr val="accent1"/>
                </a:solidFill>
                <a:effectLst>
                  <a:outerShdw dist="63500" dir="5400000" algn="tl" rotWithShape="0">
                    <a:prstClr val="black">
                      <a:alpha val="10000"/>
                    </a:prstClr>
                  </a:outerShdw>
                </a:effectLst>
                <a:latin typeface="DIN-BlackItalic" pitchFamily="50" charset="0"/>
                <a:ea typeface="+mj-ea"/>
              </a:defRPr>
            </a:lvl1pPr>
          </a:lstStyle>
          <a:p>
            <a:pPr algn="l"/>
            <a:r>
              <a:rPr lang="zh-CN" altLang="en-US" dirty="0">
                <a:latin typeface="+mn-lt"/>
                <a:ea typeface="+mn-ea"/>
                <a:cs typeface="+mn-ea"/>
                <a:sym typeface="+mn-lt"/>
              </a:rPr>
              <a:t>项目概括</a:t>
            </a:r>
          </a:p>
        </p:txBody>
      </p:sp>
      <p:grpSp>
        <p:nvGrpSpPr>
          <p:cNvPr id="74" name="组合 73"/>
          <p:cNvGrpSpPr/>
          <p:nvPr/>
        </p:nvGrpSpPr>
        <p:grpSpPr>
          <a:xfrm>
            <a:off x="6456040" y="3671313"/>
            <a:ext cx="4644651" cy="45719"/>
            <a:chOff x="6091993" y="1857948"/>
            <a:chExt cx="4644651" cy="45719"/>
          </a:xfrm>
        </p:grpSpPr>
        <p:cxnSp>
          <p:nvCxnSpPr>
            <p:cNvPr id="75" name="直接连接符 74"/>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6" name="椭圆 75"/>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cs typeface="+mn-ea"/>
                <a:sym typeface="+mn-lt"/>
              </a:endParaRPr>
            </a:p>
          </p:txBody>
        </p:sp>
      </p:grpSp>
      <p:sp>
        <p:nvSpPr>
          <p:cNvPr id="77" name="文本占位符 659"/>
          <p:cNvSpPr txBox="1"/>
          <p:nvPr/>
        </p:nvSpPr>
        <p:spPr>
          <a:xfrm>
            <a:off x="6345482" y="3193671"/>
            <a:ext cx="1605280" cy="521970"/>
          </a:xfrm>
          <a:prstGeom prst="rect">
            <a:avLst/>
          </a:prstGeom>
          <a:noFill/>
        </p:spPr>
        <p:txBody>
          <a:bodyPr wrap="none" rtlCol="0" anchor="ctr">
            <a:spAutoFit/>
          </a:bodyPr>
          <a:lstStyle>
            <a:defPPr>
              <a:defRPr lang="zh-CN"/>
            </a:defPPr>
            <a:lvl1pPr>
              <a:defRPr sz="28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结构分析</a:t>
            </a:r>
          </a:p>
        </p:txBody>
      </p:sp>
      <p:grpSp>
        <p:nvGrpSpPr>
          <p:cNvPr id="79" name="组合 78"/>
          <p:cNvGrpSpPr/>
          <p:nvPr/>
        </p:nvGrpSpPr>
        <p:grpSpPr>
          <a:xfrm>
            <a:off x="6456040" y="4823441"/>
            <a:ext cx="4644651" cy="45719"/>
            <a:chOff x="6091993" y="1857948"/>
            <a:chExt cx="4644651" cy="45719"/>
          </a:xfrm>
        </p:grpSpPr>
        <p:cxnSp>
          <p:nvCxnSpPr>
            <p:cNvPr id="80" name="直接连接符 79"/>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cs typeface="+mn-ea"/>
                <a:sym typeface="+mn-lt"/>
              </a:endParaRPr>
            </a:p>
          </p:txBody>
        </p:sp>
      </p:grpSp>
      <p:sp>
        <p:nvSpPr>
          <p:cNvPr id="82" name="文本占位符 659"/>
          <p:cNvSpPr txBox="1"/>
          <p:nvPr/>
        </p:nvSpPr>
        <p:spPr>
          <a:xfrm>
            <a:off x="6345482" y="4345799"/>
            <a:ext cx="1605280" cy="521970"/>
          </a:xfrm>
          <a:prstGeom prst="rect">
            <a:avLst/>
          </a:prstGeom>
          <a:noFill/>
        </p:spPr>
        <p:txBody>
          <a:bodyPr wrap="none" rtlCol="0" anchor="ctr">
            <a:spAutoFit/>
          </a:bodyPr>
          <a:lstStyle>
            <a:defPPr>
              <a:defRPr lang="zh-CN"/>
            </a:defPPr>
            <a:lvl1pPr>
              <a:defRPr sz="28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功能展示</a:t>
            </a:r>
          </a:p>
        </p:txBody>
      </p:sp>
      <p:sp>
        <p:nvSpPr>
          <p:cNvPr id="89" name="文本占位符 2"/>
          <p:cNvSpPr txBox="1"/>
          <p:nvPr/>
        </p:nvSpPr>
        <p:spPr>
          <a:xfrm>
            <a:off x="5307919" y="1980119"/>
            <a:ext cx="1043999" cy="757130"/>
          </a:xfrm>
          <a:prstGeom prst="rect">
            <a:avLst/>
          </a:prstGeom>
          <a:noFill/>
        </p:spPr>
        <p:txBody>
          <a:bodyPr wrap="square"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4400" kern="1200" dirty="0">
                <a:solidFill>
                  <a:schemeClr val="accent1"/>
                </a:solidFill>
                <a:latin typeface="Impact" panose="020B0806030902050204" pitchFamily="34" charset="0"/>
                <a:ea typeface="造字工房俊雅（非商用）常规体"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defTabSz="914400"/>
            <a:r>
              <a:rPr lang="en-US" altLang="zh-CN" sz="4800" dirty="0">
                <a:solidFill>
                  <a:schemeClr val="accent2"/>
                </a:solidFill>
                <a:latin typeface="+mn-lt"/>
                <a:ea typeface="+mn-ea"/>
                <a:cs typeface="+mn-ea"/>
                <a:sym typeface="+mn-lt"/>
              </a:rPr>
              <a:t>01</a:t>
            </a:r>
            <a:endParaRPr lang="en-US" sz="4800" dirty="0">
              <a:solidFill>
                <a:schemeClr val="accent2"/>
              </a:solidFill>
              <a:latin typeface="+mn-lt"/>
              <a:ea typeface="+mn-ea"/>
              <a:cs typeface="+mn-ea"/>
              <a:sym typeface="+mn-lt"/>
            </a:endParaRPr>
          </a:p>
        </p:txBody>
      </p:sp>
      <p:sp>
        <p:nvSpPr>
          <p:cNvPr id="90" name="文本占位符 2"/>
          <p:cNvSpPr txBox="1"/>
          <p:nvPr/>
        </p:nvSpPr>
        <p:spPr>
          <a:xfrm>
            <a:off x="5307919" y="3126662"/>
            <a:ext cx="1043999" cy="757130"/>
          </a:xfrm>
          <a:prstGeom prst="rect">
            <a:avLst/>
          </a:prstGeom>
          <a:noFill/>
        </p:spPr>
        <p:txBody>
          <a:bodyPr wrap="square"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4400" kern="1200" dirty="0">
                <a:solidFill>
                  <a:schemeClr val="accent1"/>
                </a:solidFill>
                <a:latin typeface="Impact" panose="020B0806030902050204" pitchFamily="34" charset="0"/>
                <a:ea typeface="造字工房俊雅（非商用）常规体"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defTabSz="914400"/>
            <a:r>
              <a:rPr lang="en-US" altLang="zh-CN" sz="4800">
                <a:solidFill>
                  <a:schemeClr val="accent2"/>
                </a:solidFill>
                <a:latin typeface="+mn-lt"/>
                <a:ea typeface="+mn-ea"/>
                <a:cs typeface="+mn-ea"/>
                <a:sym typeface="+mn-lt"/>
              </a:rPr>
              <a:t>02</a:t>
            </a:r>
            <a:endParaRPr lang="en-US" sz="4800">
              <a:solidFill>
                <a:schemeClr val="accent2"/>
              </a:solidFill>
              <a:latin typeface="+mn-lt"/>
              <a:ea typeface="+mn-ea"/>
              <a:cs typeface="+mn-ea"/>
              <a:sym typeface="+mn-lt"/>
            </a:endParaRPr>
          </a:p>
        </p:txBody>
      </p:sp>
      <p:sp>
        <p:nvSpPr>
          <p:cNvPr id="91" name="文本占位符 2"/>
          <p:cNvSpPr txBox="1"/>
          <p:nvPr/>
        </p:nvSpPr>
        <p:spPr>
          <a:xfrm>
            <a:off x="5307919" y="4273205"/>
            <a:ext cx="1043999" cy="757130"/>
          </a:xfrm>
          <a:prstGeom prst="rect">
            <a:avLst/>
          </a:prstGeom>
          <a:noFill/>
        </p:spPr>
        <p:txBody>
          <a:bodyPr wrap="square"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4400" kern="1200" dirty="0">
                <a:solidFill>
                  <a:schemeClr val="accent1"/>
                </a:solidFill>
                <a:latin typeface="Impact" panose="020B0806030902050204" pitchFamily="34" charset="0"/>
                <a:ea typeface="造字工房俊雅（非商用）常规体"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defTabSz="914400"/>
            <a:r>
              <a:rPr lang="en-US" altLang="zh-CN" sz="4800">
                <a:solidFill>
                  <a:schemeClr val="accent2"/>
                </a:solidFill>
                <a:latin typeface="+mn-lt"/>
                <a:ea typeface="+mn-ea"/>
                <a:cs typeface="+mn-ea"/>
                <a:sym typeface="+mn-lt"/>
              </a:rPr>
              <a:t>03</a:t>
            </a:r>
            <a:endParaRPr lang="en-US" sz="4800">
              <a:solidFill>
                <a:schemeClr val="accent2"/>
              </a:solidFill>
              <a:latin typeface="+mn-lt"/>
              <a:ea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占位符 24"/>
          <p:cNvSpPr txBox="1"/>
          <p:nvPr/>
        </p:nvSpPr>
        <p:spPr>
          <a:xfrm>
            <a:off x="4349174" y="3281323"/>
            <a:ext cx="3230880" cy="1014730"/>
          </a:xfrm>
          <a:prstGeom prst="rect">
            <a:avLst/>
          </a:prstGeom>
          <a:noFill/>
        </p:spPr>
        <p:txBody>
          <a:bodyPr wrap="none" rtlCol="0" anchor="ctr">
            <a:spAutoFit/>
          </a:bodyPr>
          <a:lstStyle>
            <a:defPPr>
              <a:defRPr lang="zh-CN"/>
            </a:defPPr>
            <a:lvl1pPr algn="ctr">
              <a:defRPr sz="60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项目概括</a:t>
            </a:r>
          </a:p>
        </p:txBody>
      </p:sp>
      <p:sp>
        <p:nvSpPr>
          <p:cNvPr id="57" name="文本占位符 24"/>
          <p:cNvSpPr txBox="1"/>
          <p:nvPr/>
        </p:nvSpPr>
        <p:spPr>
          <a:xfrm>
            <a:off x="4655840" y="1903751"/>
            <a:ext cx="2617542" cy="2003625"/>
          </a:xfrm>
          <a:prstGeom prst="rect">
            <a:avLst/>
          </a:prstGeom>
          <a:noFill/>
          <a:effectLst/>
        </p:spPr>
        <p:txBody>
          <a:bodyPr wrap="square" rtlCol="0">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3800" kern="1200" dirty="0">
                <a:gradFill>
                  <a:gsLst>
                    <a:gs pos="75000">
                      <a:schemeClr val="bg1">
                        <a:alpha val="0"/>
                      </a:schemeClr>
                    </a:gs>
                    <a:gs pos="0">
                      <a:schemeClr val="bg1"/>
                    </a:gs>
                  </a:gsLst>
                  <a:lin ang="5400000" scaled="0"/>
                </a:gradFill>
                <a:latin typeface="Impact" panose="020B080603090205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gradFill>
                  <a:gsLst>
                    <a:gs pos="75000">
                      <a:schemeClr val="accent2">
                        <a:alpha val="0"/>
                      </a:schemeClr>
                    </a:gs>
                    <a:gs pos="0">
                      <a:schemeClr val="accent2"/>
                    </a:gs>
                  </a:gsLst>
                  <a:lin ang="5400000" scaled="0"/>
                </a:gradFill>
                <a:latin typeface="+mn-lt"/>
                <a:cs typeface="+mn-ea"/>
                <a:sym typeface="+mn-lt"/>
              </a:rPr>
              <a:t>01</a:t>
            </a:r>
            <a:endParaRPr lang="en-US" dirty="0">
              <a:gradFill>
                <a:gsLst>
                  <a:gs pos="75000">
                    <a:schemeClr val="accent2">
                      <a:alpha val="0"/>
                    </a:schemeClr>
                  </a:gs>
                  <a:gs pos="0">
                    <a:schemeClr val="accent2"/>
                  </a:gs>
                </a:gsLst>
                <a:lin ang="5400000" scaled="0"/>
              </a:gradFill>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项目概括</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01</a:t>
            </a:r>
            <a:endParaRPr lang="zh-CN" altLang="en-US" sz="2400" b="1" dirty="0">
              <a:cs typeface="+mn-ea"/>
              <a:sym typeface="+mn-lt"/>
            </a:endParaRPr>
          </a:p>
        </p:txBody>
      </p:sp>
      <p:sp>
        <p:nvSpPr>
          <p:cNvPr id="2" name="文本框 1"/>
          <p:cNvSpPr txBox="1"/>
          <p:nvPr/>
        </p:nvSpPr>
        <p:spPr>
          <a:xfrm>
            <a:off x="263525" y="1052830"/>
            <a:ext cx="8345170" cy="645160"/>
          </a:xfrm>
          <a:prstGeom prst="rect">
            <a:avLst/>
          </a:prstGeom>
          <a:noFill/>
        </p:spPr>
        <p:txBody>
          <a:bodyPr wrap="square" rtlCol="0">
            <a:spAutoFit/>
          </a:bodyPr>
          <a:lstStyle/>
          <a:p>
            <a:r>
              <a:rPr lang="zh-CN" altLang="en-US"/>
              <a:t>本项目旨在为初入领域的科研人员提供一种智能高效的文献分析与可视化工具。目前已经基本完成，按照以下流程进行：</a:t>
            </a:r>
          </a:p>
        </p:txBody>
      </p:sp>
      <p:pic>
        <p:nvPicPr>
          <p:cNvPr id="3" name="图片 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735941" y="2276872"/>
            <a:ext cx="10720118" cy="432048"/>
          </a:xfrm>
          <a:prstGeom prst="rect">
            <a:avLst/>
          </a:prstGeom>
        </p:spPr>
      </p:pic>
      <p:sp>
        <p:nvSpPr>
          <p:cNvPr id="4" name="文本框 3"/>
          <p:cNvSpPr txBox="1"/>
          <p:nvPr/>
        </p:nvSpPr>
        <p:spPr>
          <a:xfrm>
            <a:off x="380365" y="4523740"/>
            <a:ext cx="10972165" cy="1753235"/>
          </a:xfrm>
          <a:prstGeom prst="rect">
            <a:avLst/>
          </a:prstGeom>
          <a:noFill/>
        </p:spPr>
        <p:txBody>
          <a:bodyPr wrap="square" rtlCol="0">
            <a:spAutoFit/>
          </a:bodyPr>
          <a:lstStyle/>
          <a:p>
            <a:r>
              <a:rPr lang="zh-CN" altLang="en-US"/>
              <a:t>该项目整合了主要</a:t>
            </a:r>
            <a:r>
              <a:rPr lang="zh-CN" altLang="en-US">
                <a:solidFill>
                  <a:srgbClr val="FF0000"/>
                </a:solidFill>
              </a:rPr>
              <a:t>期刊和会议</a:t>
            </a:r>
            <a:r>
              <a:rPr lang="zh-CN" altLang="en-US"/>
              <a:t>的论文信息，包括</a:t>
            </a:r>
            <a:r>
              <a:rPr lang="zh-CN" altLang="en-US">
                <a:solidFill>
                  <a:schemeClr val="accent2"/>
                </a:solidFill>
              </a:rPr>
              <a:t>标题</a:t>
            </a:r>
            <a:r>
              <a:rPr lang="zh-CN" altLang="en-US"/>
              <a:t>、</a:t>
            </a:r>
            <a:r>
              <a:rPr lang="zh-CN" altLang="en-US">
                <a:solidFill>
                  <a:schemeClr val="accent2"/>
                </a:solidFill>
              </a:rPr>
              <a:t>作者</a:t>
            </a:r>
            <a:r>
              <a:rPr lang="zh-CN" altLang="en-US"/>
              <a:t>、</a:t>
            </a:r>
            <a:r>
              <a:rPr lang="zh-CN" altLang="en-US">
                <a:solidFill>
                  <a:schemeClr val="accent2"/>
                </a:solidFill>
              </a:rPr>
              <a:t>摘要</a:t>
            </a:r>
            <a:r>
              <a:rPr lang="zh-CN" altLang="en-US"/>
              <a:t>等，并以CSV格式进行存储。此外，还进行了简单的预处理训练，以便使用者可以根据需要灵活选择研究范围。我们研究了相关算法，用于对所选数据进行分析，并将分析结果以表格的形式呈现。为了实现数据的可视化，我们使用了</a:t>
            </a:r>
            <a:r>
              <a:rPr lang="zh-CN" altLang="en-US">
                <a:solidFill>
                  <a:schemeClr val="accent6"/>
                </a:solidFill>
              </a:rPr>
              <a:t>Networkx</a:t>
            </a:r>
            <a:r>
              <a:rPr lang="zh-CN" altLang="en-US"/>
              <a:t>和</a:t>
            </a:r>
            <a:r>
              <a:rPr lang="zh-CN" altLang="en-US">
                <a:solidFill>
                  <a:schemeClr val="accent6"/>
                </a:solidFill>
              </a:rPr>
              <a:t>Matplotlib</a:t>
            </a:r>
            <a:r>
              <a:rPr lang="zh-CN" altLang="en-US"/>
              <a:t>库编写了相关函数。此外，我们使用</a:t>
            </a:r>
            <a:r>
              <a:rPr lang="zh-CN" altLang="en-US">
                <a:solidFill>
                  <a:schemeClr val="accent1">
                    <a:lumMod val="60000"/>
                    <a:lumOff val="40000"/>
                  </a:schemeClr>
                </a:solidFill>
              </a:rPr>
              <a:t>Gradio</a:t>
            </a:r>
            <a:r>
              <a:rPr lang="zh-CN" altLang="en-US"/>
              <a:t>进行模块化搭建，每个功能都由输入、函数和输出三个部分组成，以方便后续的更新和维护，并支持使用者自定义功能。我们的网站运行在Azure服务器上，支持使用</a:t>
            </a:r>
            <a:r>
              <a:rPr lang="zh-CN" altLang="en-US">
                <a:solidFill>
                  <a:srgbClr val="7030A0"/>
                </a:solidFill>
              </a:rPr>
              <a:t>大模型API</a:t>
            </a:r>
            <a:r>
              <a:rPr lang="zh-CN" altLang="en-US"/>
              <a:t>，并且使用者还可以自行批量上传论文的PDF进行分析。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占位符 24"/>
          <p:cNvSpPr txBox="1"/>
          <p:nvPr/>
        </p:nvSpPr>
        <p:spPr>
          <a:xfrm>
            <a:off x="4480562" y="2934153"/>
            <a:ext cx="3230880" cy="1014730"/>
          </a:xfrm>
          <a:prstGeom prst="rect">
            <a:avLst/>
          </a:prstGeom>
          <a:noFill/>
        </p:spPr>
        <p:txBody>
          <a:bodyPr wrap="none" rtlCol="0" anchor="ctr">
            <a:spAutoFit/>
          </a:bodyPr>
          <a:lstStyle>
            <a:defPPr>
              <a:defRPr lang="zh-CN"/>
            </a:defPPr>
            <a:lvl1pPr algn="ctr">
              <a:defRPr sz="60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结构分析</a:t>
            </a:r>
          </a:p>
        </p:txBody>
      </p:sp>
      <p:sp>
        <p:nvSpPr>
          <p:cNvPr id="57" name="文本占位符 24"/>
          <p:cNvSpPr txBox="1"/>
          <p:nvPr/>
        </p:nvSpPr>
        <p:spPr>
          <a:xfrm>
            <a:off x="4787229" y="1556579"/>
            <a:ext cx="2617542" cy="2003625"/>
          </a:xfrm>
          <a:prstGeom prst="rect">
            <a:avLst/>
          </a:prstGeom>
          <a:noFill/>
          <a:effectLst/>
        </p:spPr>
        <p:txBody>
          <a:bodyPr wrap="square" rtlCol="0">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3800" kern="1200" dirty="0">
                <a:gradFill>
                  <a:gsLst>
                    <a:gs pos="75000">
                      <a:schemeClr val="bg1">
                        <a:alpha val="0"/>
                      </a:schemeClr>
                    </a:gs>
                    <a:gs pos="0">
                      <a:schemeClr val="bg1"/>
                    </a:gs>
                  </a:gsLst>
                  <a:lin ang="5400000" scaled="0"/>
                </a:gradFill>
                <a:latin typeface="Impact" panose="020B080603090205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gradFill>
                  <a:gsLst>
                    <a:gs pos="75000">
                      <a:schemeClr val="accent2">
                        <a:alpha val="0"/>
                      </a:schemeClr>
                    </a:gs>
                    <a:gs pos="0">
                      <a:schemeClr val="accent2"/>
                    </a:gs>
                  </a:gsLst>
                  <a:lin ang="5400000" scaled="0"/>
                </a:gradFill>
                <a:latin typeface="+mn-lt"/>
                <a:cs typeface="+mn-ea"/>
                <a:sym typeface="+mn-lt"/>
              </a:rPr>
              <a:t>02</a:t>
            </a:r>
            <a:endParaRPr lang="en-US" dirty="0">
              <a:gradFill>
                <a:gsLst>
                  <a:gs pos="75000">
                    <a:schemeClr val="accent2">
                      <a:alpha val="0"/>
                    </a:schemeClr>
                  </a:gs>
                  <a:gs pos="0">
                    <a:schemeClr val="accent2"/>
                  </a:gs>
                </a:gsLst>
                <a:lin ang="5400000" scaled="0"/>
              </a:gradFill>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结构分析</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02</a:t>
            </a:r>
            <a:endParaRPr lang="zh-CN" altLang="en-US" sz="2400" b="1" dirty="0">
              <a:cs typeface="+mn-ea"/>
              <a:sym typeface="+mn-lt"/>
            </a:endParaRPr>
          </a:p>
        </p:txBody>
      </p:sp>
      <p:sp>
        <p:nvSpPr>
          <p:cNvPr id="2" name="文本框 1"/>
          <p:cNvSpPr txBox="1"/>
          <p:nvPr/>
        </p:nvSpPr>
        <p:spPr>
          <a:xfrm>
            <a:off x="342900" y="1293495"/>
            <a:ext cx="11225530" cy="368300"/>
          </a:xfrm>
          <a:prstGeom prst="rect">
            <a:avLst/>
          </a:prstGeom>
          <a:noFill/>
        </p:spPr>
        <p:txBody>
          <a:bodyPr wrap="square" rtlCol="0">
            <a:spAutoFit/>
          </a:bodyPr>
          <a:lstStyle/>
          <a:p>
            <a:r>
              <a:rPr lang="zh-CN" altLang="en-US"/>
              <a:t>项目程序的结构整体分为</a:t>
            </a:r>
            <a:r>
              <a:rPr lang="zh-CN" altLang="en-US">
                <a:solidFill>
                  <a:srgbClr val="C00000"/>
                </a:solidFill>
              </a:rPr>
              <a:t>输入</a:t>
            </a:r>
            <a:r>
              <a:rPr lang="zh-CN" altLang="en-US"/>
              <a:t>、</a:t>
            </a:r>
            <a:r>
              <a:rPr lang="zh-CN" altLang="en-US">
                <a:solidFill>
                  <a:srgbClr val="C00000"/>
                </a:solidFill>
              </a:rPr>
              <a:t>函数</a:t>
            </a:r>
            <a:r>
              <a:rPr lang="zh-CN" altLang="en-US"/>
              <a:t>、</a:t>
            </a:r>
            <a:r>
              <a:rPr lang="zh-CN" altLang="en-US">
                <a:solidFill>
                  <a:srgbClr val="C00000"/>
                </a:solidFill>
              </a:rPr>
              <a:t>输出</a:t>
            </a:r>
            <a:r>
              <a:rPr lang="zh-CN" altLang="en-US"/>
              <a:t>三个部分，同时部分输出也作为函数的输入。</a:t>
            </a:r>
          </a:p>
        </p:txBody>
      </p:sp>
      <p:pic>
        <p:nvPicPr>
          <p:cNvPr id="5" name="图片 4"/>
          <p:cNvPicPr>
            <a:picLocks noChangeAspect="1"/>
          </p:cNvPicPr>
          <p:nvPr>
            <p:custDataLst>
              <p:tags r:id="rId1"/>
            </p:custDataLst>
          </p:nvPr>
        </p:nvPicPr>
        <p:blipFill>
          <a:blip r:embed="rId4"/>
          <a:stretch>
            <a:fillRect/>
          </a:stretch>
        </p:blipFill>
        <p:spPr>
          <a:xfrm>
            <a:off x="407035" y="1844675"/>
            <a:ext cx="9502140" cy="467614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结构分析</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02</a:t>
            </a:r>
            <a:endParaRPr lang="zh-CN" altLang="en-US" sz="2400" b="1" dirty="0">
              <a:cs typeface="+mn-ea"/>
              <a:sym typeface="+mn-lt"/>
            </a:endParaRPr>
          </a:p>
        </p:txBody>
      </p:sp>
      <p:sp>
        <p:nvSpPr>
          <p:cNvPr id="8" name="文本框 7"/>
          <p:cNvSpPr txBox="1"/>
          <p:nvPr/>
        </p:nvSpPr>
        <p:spPr>
          <a:xfrm>
            <a:off x="335280" y="972185"/>
            <a:ext cx="1692275" cy="521970"/>
          </a:xfrm>
          <a:prstGeom prst="rect">
            <a:avLst/>
          </a:prstGeom>
          <a:noFill/>
        </p:spPr>
        <p:txBody>
          <a:bodyPr wrap="square" rtlCol="0">
            <a:spAutoFit/>
          </a:bodyPr>
          <a:lstStyle/>
          <a:p>
            <a:r>
              <a:rPr lang="zh-CN" altLang="en-US" sz="2800">
                <a:solidFill>
                  <a:srgbClr val="FF0000"/>
                </a:solidFill>
              </a:rPr>
              <a:t>输入部分</a:t>
            </a:r>
            <a:r>
              <a:rPr lang="zh-CN" altLang="en-US">
                <a:solidFill>
                  <a:srgbClr val="FF0000"/>
                </a:solidFill>
              </a:rPr>
              <a:t>：</a:t>
            </a:r>
          </a:p>
        </p:txBody>
      </p:sp>
      <p:sp>
        <p:nvSpPr>
          <p:cNvPr id="9" name="文本框 8"/>
          <p:cNvSpPr txBox="1"/>
          <p:nvPr/>
        </p:nvSpPr>
        <p:spPr>
          <a:xfrm>
            <a:off x="335280" y="2190750"/>
            <a:ext cx="5982970" cy="3415030"/>
          </a:xfrm>
          <a:prstGeom prst="rect">
            <a:avLst/>
          </a:prstGeom>
          <a:noFill/>
        </p:spPr>
        <p:txBody>
          <a:bodyPr wrap="square" rtlCol="0">
            <a:spAutoFit/>
          </a:bodyPr>
          <a:lstStyle/>
          <a:p>
            <a:r>
              <a:rPr lang="zh-CN" altLang="en-US">
                <a:solidFill>
                  <a:schemeClr val="accent2"/>
                </a:solidFill>
              </a:rPr>
              <a:t>file：</a:t>
            </a:r>
            <a:r>
              <a:rPr lang="zh-CN" altLang="en-US"/>
              <a:t>指使用者可以上传任意的文件到服务器用于分析</a:t>
            </a:r>
          </a:p>
          <a:p>
            <a:endParaRPr lang="zh-CN" altLang="en-US"/>
          </a:p>
          <a:p>
            <a:r>
              <a:rPr lang="zh-CN" altLang="en-US">
                <a:solidFill>
                  <a:schemeClr val="accent2"/>
                </a:solidFill>
              </a:rPr>
              <a:t>book：</a:t>
            </a:r>
            <a:r>
              <a:rPr lang="zh-CN" altLang="en-US"/>
              <a:t>为已经整理的期刊或会议名称</a:t>
            </a:r>
          </a:p>
          <a:p>
            <a:endParaRPr lang="zh-CN" altLang="en-US"/>
          </a:p>
          <a:p>
            <a:r>
              <a:rPr lang="zh-CN" altLang="en-US">
                <a:solidFill>
                  <a:schemeClr val="accent2"/>
                </a:solidFill>
              </a:rPr>
              <a:t>year：</a:t>
            </a:r>
            <a:r>
              <a:rPr lang="zh-CN" altLang="en-US"/>
              <a:t>为期刊或会议年份，用于帮助使用者选择研究范围</a:t>
            </a:r>
          </a:p>
          <a:p>
            <a:endParaRPr lang="zh-CN" altLang="en-US"/>
          </a:p>
          <a:p>
            <a:r>
              <a:rPr lang="zh-CN" altLang="en-US">
                <a:solidFill>
                  <a:schemeClr val="accent2"/>
                </a:solidFill>
              </a:rPr>
              <a:t>input：</a:t>
            </a:r>
            <a:r>
              <a:rPr lang="zh-CN" altLang="en-US"/>
              <a:t>为使用者输入的文字内容</a:t>
            </a:r>
          </a:p>
          <a:p>
            <a:endParaRPr lang="zh-CN" altLang="en-US"/>
          </a:p>
          <a:p>
            <a:r>
              <a:rPr lang="zh-CN" altLang="en-US">
                <a:solidFill>
                  <a:schemeClr val="accent2"/>
                </a:solidFill>
              </a:rPr>
              <a:t>type：</a:t>
            </a:r>
            <a:r>
              <a:rPr lang="zh-CN" altLang="en-US"/>
              <a:t>为输入的类型，使得程序运行不同的功能</a:t>
            </a:r>
          </a:p>
          <a:p>
            <a:endParaRPr lang="zh-CN" altLang="en-US"/>
          </a:p>
          <a:p>
            <a:r>
              <a:rPr lang="zh-CN" altLang="en-US">
                <a:solidFill>
                  <a:schemeClr val="accent2"/>
                </a:solidFill>
              </a:rPr>
              <a:t>key：</a:t>
            </a:r>
            <a:r>
              <a:rPr lang="zh-CN" altLang="en-US"/>
              <a:t>为API，为部分函数提供了大模型接口</a:t>
            </a:r>
          </a:p>
          <a:p>
            <a:endParaRPr lang="zh-CN" altLang="en-US"/>
          </a:p>
        </p:txBody>
      </p:sp>
      <p:pic>
        <p:nvPicPr>
          <p:cNvPr id="10" name="图片 9"/>
          <p:cNvPicPr>
            <a:picLocks noChangeAspect="1"/>
          </p:cNvPicPr>
          <p:nvPr>
            <p:custDataLst>
              <p:tags r:id="rId1"/>
            </p:custDataLst>
          </p:nvPr>
        </p:nvPicPr>
        <p:blipFill>
          <a:blip r:embed="rId4"/>
          <a:stretch>
            <a:fillRect/>
          </a:stretch>
        </p:blipFill>
        <p:spPr>
          <a:xfrm>
            <a:off x="7680325" y="2190750"/>
            <a:ext cx="3939540" cy="42214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结构分析</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02</a:t>
            </a:r>
            <a:endParaRPr lang="zh-CN" altLang="en-US" sz="2400" b="1" dirty="0">
              <a:cs typeface="+mn-ea"/>
              <a:sym typeface="+mn-lt"/>
            </a:endParaRPr>
          </a:p>
        </p:txBody>
      </p:sp>
      <p:sp>
        <p:nvSpPr>
          <p:cNvPr id="8" name="文本框 7"/>
          <p:cNvSpPr txBox="1"/>
          <p:nvPr/>
        </p:nvSpPr>
        <p:spPr>
          <a:xfrm>
            <a:off x="335280" y="972185"/>
            <a:ext cx="1692275" cy="521970"/>
          </a:xfrm>
          <a:prstGeom prst="rect">
            <a:avLst/>
          </a:prstGeom>
          <a:noFill/>
        </p:spPr>
        <p:txBody>
          <a:bodyPr wrap="square" rtlCol="0">
            <a:spAutoFit/>
          </a:bodyPr>
          <a:lstStyle/>
          <a:p>
            <a:r>
              <a:rPr lang="zh-CN" altLang="en-US" sz="2800">
                <a:solidFill>
                  <a:srgbClr val="FF0000"/>
                </a:solidFill>
              </a:rPr>
              <a:t>输出部分</a:t>
            </a:r>
            <a:r>
              <a:rPr lang="zh-CN" altLang="en-US">
                <a:solidFill>
                  <a:srgbClr val="FF0000"/>
                </a:solidFill>
              </a:rPr>
              <a:t>：</a:t>
            </a:r>
          </a:p>
        </p:txBody>
      </p:sp>
      <p:sp>
        <p:nvSpPr>
          <p:cNvPr id="9" name="文本框 8"/>
          <p:cNvSpPr txBox="1"/>
          <p:nvPr/>
        </p:nvSpPr>
        <p:spPr>
          <a:xfrm>
            <a:off x="2063115" y="1412875"/>
            <a:ext cx="7598410" cy="518160"/>
          </a:xfrm>
          <a:prstGeom prst="rect">
            <a:avLst/>
          </a:prstGeom>
          <a:noFill/>
        </p:spPr>
        <p:txBody>
          <a:bodyPr wrap="square" rtlCol="0" anchor="ctr" anchorCtr="0">
            <a:noAutofit/>
          </a:bodyPr>
          <a:lstStyle/>
          <a:p>
            <a:pPr algn="just"/>
            <a:r>
              <a:rPr lang="en-US" altLang="zh-CN"/>
              <a:t>                                 </a:t>
            </a:r>
            <a:r>
              <a:rPr lang="zh-CN" altLang="en-US"/>
              <a:t>共有</a:t>
            </a:r>
            <a:r>
              <a:rPr lang="zh-CN" altLang="en-US">
                <a:solidFill>
                  <a:schemeClr val="accent2"/>
                </a:solidFill>
              </a:rPr>
              <a:t>文本</a:t>
            </a:r>
            <a:r>
              <a:rPr lang="zh-CN" altLang="en-US"/>
              <a:t>、</a:t>
            </a:r>
            <a:r>
              <a:rPr lang="zh-CN" altLang="en-US">
                <a:solidFill>
                  <a:schemeClr val="accent2"/>
                </a:solidFill>
              </a:rPr>
              <a:t>表格</a:t>
            </a:r>
            <a:r>
              <a:rPr lang="zh-CN" altLang="en-US"/>
              <a:t>、</a:t>
            </a:r>
            <a:r>
              <a:rPr lang="zh-CN" altLang="en-US">
                <a:solidFill>
                  <a:schemeClr val="accent2"/>
                </a:solidFill>
              </a:rPr>
              <a:t>图像</a:t>
            </a:r>
            <a:r>
              <a:rPr lang="zh-CN" altLang="en-US"/>
              <a:t>三种形式</a:t>
            </a:r>
          </a:p>
        </p:txBody>
      </p:sp>
      <p:pic>
        <p:nvPicPr>
          <p:cNvPr id="2" name="图片 1"/>
          <p:cNvPicPr>
            <a:picLocks noChangeAspect="1"/>
          </p:cNvPicPr>
          <p:nvPr>
            <p:custDataLst>
              <p:tags r:id="rId1"/>
            </p:custDataLst>
          </p:nvPr>
        </p:nvPicPr>
        <p:blipFill>
          <a:blip r:embed="rId4"/>
          <a:stretch>
            <a:fillRect/>
          </a:stretch>
        </p:blipFill>
        <p:spPr>
          <a:xfrm>
            <a:off x="2783205" y="1988820"/>
            <a:ext cx="6498590" cy="47371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结构分析</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02</a:t>
            </a:r>
            <a:endParaRPr lang="zh-CN" altLang="en-US" sz="2400" b="1" dirty="0">
              <a:cs typeface="+mn-ea"/>
              <a:sym typeface="+mn-lt"/>
            </a:endParaRPr>
          </a:p>
        </p:txBody>
      </p:sp>
      <p:sp>
        <p:nvSpPr>
          <p:cNvPr id="8" name="文本框 7"/>
          <p:cNvSpPr txBox="1"/>
          <p:nvPr/>
        </p:nvSpPr>
        <p:spPr>
          <a:xfrm>
            <a:off x="335280" y="972185"/>
            <a:ext cx="1692275" cy="521970"/>
          </a:xfrm>
          <a:prstGeom prst="rect">
            <a:avLst/>
          </a:prstGeom>
          <a:noFill/>
        </p:spPr>
        <p:txBody>
          <a:bodyPr wrap="square" rtlCol="0">
            <a:spAutoFit/>
          </a:bodyPr>
          <a:lstStyle/>
          <a:p>
            <a:r>
              <a:rPr lang="zh-CN" altLang="en-US" sz="2800">
                <a:solidFill>
                  <a:srgbClr val="FF0000"/>
                </a:solidFill>
              </a:rPr>
              <a:t>函数部分</a:t>
            </a:r>
            <a:r>
              <a:rPr lang="zh-CN" altLang="en-US">
                <a:solidFill>
                  <a:srgbClr val="FF0000"/>
                </a:solidFill>
              </a:rPr>
              <a:t>：</a:t>
            </a:r>
          </a:p>
        </p:txBody>
      </p:sp>
      <p:sp>
        <p:nvSpPr>
          <p:cNvPr id="3" name="文本框 2"/>
          <p:cNvSpPr txBox="1"/>
          <p:nvPr/>
        </p:nvSpPr>
        <p:spPr>
          <a:xfrm>
            <a:off x="330835" y="1557020"/>
            <a:ext cx="7350125" cy="4523105"/>
          </a:xfrm>
          <a:prstGeom prst="rect">
            <a:avLst/>
          </a:prstGeom>
          <a:noFill/>
        </p:spPr>
        <p:txBody>
          <a:bodyPr wrap="square" rtlCol="0">
            <a:spAutoFit/>
          </a:bodyPr>
          <a:lstStyle/>
          <a:p>
            <a:r>
              <a:rPr lang="zh-CN" altLang="en-US">
                <a:solidFill>
                  <a:schemeClr val="accent6"/>
                </a:solidFill>
              </a:rPr>
              <a:t>文件读取：</a:t>
            </a:r>
            <a:r>
              <a:rPr lang="zh-CN" altLang="en-US">
                <a:solidFill>
                  <a:schemeClr val="tx1"/>
                </a:solidFill>
              </a:rPr>
              <a:t>负责额外提供数据</a:t>
            </a:r>
            <a:endParaRPr lang="zh-CN" altLang="en-US">
              <a:solidFill>
                <a:schemeClr val="accent6"/>
              </a:solidFill>
            </a:endParaRPr>
          </a:p>
          <a:p>
            <a:endParaRPr lang="zh-CN" altLang="en-US"/>
          </a:p>
          <a:p>
            <a:endParaRPr lang="zh-CN" altLang="en-US"/>
          </a:p>
          <a:p>
            <a:r>
              <a:rPr lang="zh-CN" altLang="en-US">
                <a:solidFill>
                  <a:schemeClr val="accent6"/>
                </a:solidFill>
              </a:rPr>
              <a:t>关系绘制：</a:t>
            </a:r>
            <a:r>
              <a:rPr lang="zh-CN" altLang="en-US">
                <a:solidFill>
                  <a:schemeClr val="tx1"/>
                </a:solidFill>
              </a:rPr>
              <a:t>根据研究范围内的论文按相似程度绘制了关系图</a:t>
            </a:r>
          </a:p>
          <a:p>
            <a:endParaRPr lang="zh-CN" altLang="en-US">
              <a:solidFill>
                <a:schemeClr val="accent6"/>
              </a:solidFill>
            </a:endParaRPr>
          </a:p>
          <a:p>
            <a:endParaRPr lang="zh-CN" altLang="en-US">
              <a:solidFill>
                <a:schemeClr val="accent6"/>
              </a:solidFill>
            </a:endParaRPr>
          </a:p>
          <a:p>
            <a:r>
              <a:rPr lang="zh-CN" altLang="en-US">
                <a:solidFill>
                  <a:schemeClr val="accent6"/>
                </a:solidFill>
              </a:rPr>
              <a:t>相似推荐：</a:t>
            </a:r>
            <a:r>
              <a:rPr lang="zh-CN" altLang="en-US">
                <a:solidFill>
                  <a:schemeClr val="tx1"/>
                </a:solidFill>
              </a:rPr>
              <a:t>根据相似程度推荐范围外的论文</a:t>
            </a:r>
            <a:endParaRPr lang="zh-CN" altLang="en-US">
              <a:solidFill>
                <a:schemeClr val="accent6"/>
              </a:solidFill>
            </a:endParaRPr>
          </a:p>
          <a:p>
            <a:endParaRPr lang="zh-CN" altLang="en-US">
              <a:solidFill>
                <a:schemeClr val="accent6"/>
              </a:solidFill>
            </a:endParaRPr>
          </a:p>
          <a:p>
            <a:endParaRPr lang="zh-CN" altLang="en-US">
              <a:solidFill>
                <a:schemeClr val="accent6"/>
              </a:solidFill>
            </a:endParaRPr>
          </a:p>
          <a:p>
            <a:r>
              <a:rPr lang="zh-CN" altLang="en-US">
                <a:solidFill>
                  <a:schemeClr val="accent6"/>
                </a:solidFill>
              </a:rPr>
              <a:t>内容查找：</a:t>
            </a:r>
            <a:r>
              <a:rPr lang="zh-CN" altLang="en-US">
                <a:sym typeface="+mn-ea"/>
              </a:rPr>
              <a:t>根据使用者输入提供一个研究范围，以表格呈现</a:t>
            </a:r>
          </a:p>
          <a:p>
            <a:endParaRPr lang="zh-CN" altLang="en-US">
              <a:solidFill>
                <a:schemeClr val="accent6"/>
              </a:solidFill>
            </a:endParaRPr>
          </a:p>
          <a:p>
            <a:endParaRPr lang="zh-CN" altLang="en-US">
              <a:solidFill>
                <a:schemeClr val="accent6"/>
              </a:solidFill>
            </a:endParaRPr>
          </a:p>
          <a:p>
            <a:r>
              <a:rPr lang="zh-CN" altLang="en-US">
                <a:solidFill>
                  <a:schemeClr val="accent6"/>
                </a:solidFill>
              </a:rPr>
              <a:t>翻译总结：</a:t>
            </a:r>
            <a:r>
              <a:rPr lang="zh-CN" altLang="en-US">
                <a:solidFill>
                  <a:schemeClr val="tx1"/>
                </a:solidFill>
              </a:rPr>
              <a:t>使用大模型准确翻译和总结文本内容</a:t>
            </a:r>
            <a:endParaRPr lang="zh-CN" altLang="en-US">
              <a:solidFill>
                <a:schemeClr val="accent6"/>
              </a:solidFill>
            </a:endParaRPr>
          </a:p>
          <a:p>
            <a:endParaRPr lang="zh-CN" altLang="en-US">
              <a:solidFill>
                <a:schemeClr val="accent6"/>
              </a:solidFill>
            </a:endParaRPr>
          </a:p>
          <a:p>
            <a:endParaRPr lang="zh-CN" altLang="en-US">
              <a:solidFill>
                <a:schemeClr val="accent6"/>
              </a:solidFill>
            </a:endParaRPr>
          </a:p>
          <a:p>
            <a:r>
              <a:rPr lang="zh-CN" altLang="en-US">
                <a:solidFill>
                  <a:schemeClr val="accent6"/>
                </a:solidFill>
              </a:rPr>
              <a:t>研究走向：</a:t>
            </a:r>
            <a:r>
              <a:rPr lang="zh-CN" altLang="en-US">
                <a:solidFill>
                  <a:schemeClr val="tx1"/>
                </a:solidFill>
              </a:rPr>
              <a:t>使用大模型，根据范围内的论文探究合作关系以及风格走向</a:t>
            </a:r>
          </a:p>
        </p:txBody>
      </p:sp>
      <p:pic>
        <p:nvPicPr>
          <p:cNvPr id="4" name="图片 3"/>
          <p:cNvPicPr>
            <a:picLocks noChangeAspect="1"/>
          </p:cNvPicPr>
          <p:nvPr>
            <p:custDataLst>
              <p:tags r:id="rId1"/>
            </p:custDataLst>
          </p:nvPr>
        </p:nvPicPr>
        <p:blipFill>
          <a:blip r:embed="rId4"/>
          <a:stretch>
            <a:fillRect/>
          </a:stretch>
        </p:blipFill>
        <p:spPr>
          <a:xfrm>
            <a:off x="7536180" y="2493010"/>
            <a:ext cx="4038600" cy="16764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结构分析</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02</a:t>
            </a:r>
            <a:endParaRPr lang="zh-CN" altLang="en-US" sz="2400" b="1" dirty="0">
              <a:cs typeface="+mn-ea"/>
              <a:sym typeface="+mn-lt"/>
            </a:endParaRPr>
          </a:p>
        </p:txBody>
      </p:sp>
      <p:sp>
        <p:nvSpPr>
          <p:cNvPr id="2" name="文本框 1"/>
          <p:cNvSpPr txBox="1"/>
          <p:nvPr/>
        </p:nvSpPr>
        <p:spPr>
          <a:xfrm>
            <a:off x="330835" y="1196975"/>
            <a:ext cx="11495405" cy="319405"/>
          </a:xfrm>
          <a:prstGeom prst="rect">
            <a:avLst/>
          </a:prstGeom>
          <a:noFill/>
        </p:spPr>
        <p:txBody>
          <a:bodyPr wrap="square" rtlCol="0">
            <a:noAutofit/>
          </a:bodyPr>
          <a:lstStyle/>
          <a:p>
            <a:r>
              <a:rPr lang="zh-CN" altLang="en-US"/>
              <a:t>各个板块之间的关系图如下：</a:t>
            </a:r>
          </a:p>
        </p:txBody>
      </p:sp>
      <p:pic>
        <p:nvPicPr>
          <p:cNvPr id="3" name="图片 -2147482623" descr="0"/>
          <p:cNvPicPr>
            <a:picLocks noChangeAspect="1"/>
          </p:cNvPicPr>
          <p:nvPr>
            <p:custDataLst>
              <p:tags r:id="rId1"/>
            </p:custDataLst>
          </p:nvPr>
        </p:nvPicPr>
        <p:blipFill>
          <a:blip r:embed="rId4"/>
          <a:stretch>
            <a:fillRect/>
          </a:stretch>
        </p:blipFill>
        <p:spPr>
          <a:xfrm>
            <a:off x="3215640" y="2060575"/>
            <a:ext cx="5958205" cy="464058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占位符 24"/>
          <p:cNvSpPr txBox="1"/>
          <p:nvPr/>
        </p:nvSpPr>
        <p:spPr>
          <a:xfrm>
            <a:off x="4480561" y="3006543"/>
            <a:ext cx="3230880" cy="1014730"/>
          </a:xfrm>
          <a:prstGeom prst="rect">
            <a:avLst/>
          </a:prstGeom>
          <a:noFill/>
        </p:spPr>
        <p:txBody>
          <a:bodyPr wrap="none" rtlCol="0" anchor="ctr">
            <a:spAutoFit/>
          </a:bodyPr>
          <a:lstStyle>
            <a:defPPr>
              <a:defRPr lang="zh-CN"/>
            </a:defPPr>
            <a:lvl1pPr algn="ctr">
              <a:defRPr sz="60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功能展示</a:t>
            </a:r>
          </a:p>
        </p:txBody>
      </p:sp>
      <p:sp>
        <p:nvSpPr>
          <p:cNvPr id="57" name="文本占位符 24"/>
          <p:cNvSpPr txBox="1"/>
          <p:nvPr/>
        </p:nvSpPr>
        <p:spPr>
          <a:xfrm>
            <a:off x="4787229" y="1628969"/>
            <a:ext cx="2617542" cy="2003625"/>
          </a:xfrm>
          <a:prstGeom prst="rect">
            <a:avLst/>
          </a:prstGeom>
          <a:noFill/>
          <a:effectLst/>
        </p:spPr>
        <p:txBody>
          <a:bodyPr wrap="square" rtlCol="0">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3800" kern="1200" dirty="0">
                <a:gradFill>
                  <a:gsLst>
                    <a:gs pos="75000">
                      <a:schemeClr val="bg1">
                        <a:alpha val="0"/>
                      </a:schemeClr>
                    </a:gs>
                    <a:gs pos="0">
                      <a:schemeClr val="bg1"/>
                    </a:gs>
                  </a:gsLst>
                  <a:lin ang="5400000" scaled="0"/>
                </a:gradFill>
                <a:latin typeface="Impact" panose="020B080603090205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gradFill>
                  <a:gsLst>
                    <a:gs pos="75000">
                      <a:schemeClr val="accent2">
                        <a:alpha val="0"/>
                      </a:schemeClr>
                    </a:gs>
                    <a:gs pos="0">
                      <a:schemeClr val="accent2"/>
                    </a:gs>
                  </a:gsLst>
                  <a:lin ang="5400000" scaled="0"/>
                </a:gradFill>
                <a:latin typeface="+mn-lt"/>
                <a:cs typeface="+mn-ea"/>
                <a:sym typeface="+mn-lt"/>
              </a:rPr>
              <a:t>03</a:t>
            </a:r>
            <a:endParaRPr lang="en-US" dirty="0">
              <a:gradFill>
                <a:gsLst>
                  <a:gs pos="75000">
                    <a:schemeClr val="accent2">
                      <a:alpha val="0"/>
                    </a:schemeClr>
                  </a:gs>
                  <a:gs pos="0">
                    <a:schemeClr val="accent2"/>
                  </a:gs>
                </a:gsLst>
                <a:lin ang="5400000" scaled="0"/>
              </a:gradFill>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功能展示</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03</a:t>
            </a:r>
            <a:endParaRPr lang="zh-CN" altLang="en-US" sz="2400" b="1" dirty="0">
              <a:cs typeface="+mn-ea"/>
              <a:sym typeface="+mn-lt"/>
            </a:endParaRPr>
          </a:p>
        </p:txBody>
      </p:sp>
      <p:sp>
        <p:nvSpPr>
          <p:cNvPr id="2" name="文本框 1"/>
          <p:cNvSpPr txBox="1"/>
          <p:nvPr/>
        </p:nvSpPr>
        <p:spPr>
          <a:xfrm>
            <a:off x="3215640" y="448945"/>
            <a:ext cx="7878445" cy="387985"/>
          </a:xfrm>
          <a:prstGeom prst="rect">
            <a:avLst/>
          </a:prstGeom>
          <a:noFill/>
        </p:spPr>
        <p:txBody>
          <a:bodyPr wrap="square" rtlCol="0">
            <a:noAutofit/>
          </a:bodyPr>
          <a:lstStyle/>
          <a:p>
            <a:r>
              <a:rPr lang="zh-CN" altLang="en-US"/>
              <a:t>（本项目的研究成果均已在 </a:t>
            </a:r>
            <a:r>
              <a:rPr lang="zh-CN" altLang="en-US">
                <a:gradFill>
                  <a:gsLst>
                    <a:gs pos="50000">
                      <a:schemeClr val="accent1"/>
                    </a:gs>
                    <a:gs pos="0">
                      <a:schemeClr val="accent1">
                        <a:lumMod val="25000"/>
                        <a:lumOff val="75000"/>
                      </a:schemeClr>
                    </a:gs>
                    <a:gs pos="100000">
                      <a:schemeClr val="accent1">
                        <a:lumMod val="85000"/>
                      </a:schemeClr>
                    </a:gs>
                  </a:gsLst>
                  <a:lin ang="5400000" scaled="1"/>
                </a:gradFill>
              </a:rPr>
              <a:t>https://win.sunnuay.com/</a:t>
            </a:r>
            <a:r>
              <a:rPr lang="zh-CN" altLang="en-US"/>
              <a:t> 展示并同步更新）</a:t>
            </a:r>
            <a:endParaRPr lang="en-US" altLang="zh-CN"/>
          </a:p>
        </p:txBody>
      </p:sp>
      <p:sp>
        <p:nvSpPr>
          <p:cNvPr id="3" name="文本框 2"/>
          <p:cNvSpPr txBox="1"/>
          <p:nvPr/>
        </p:nvSpPr>
        <p:spPr>
          <a:xfrm>
            <a:off x="342900" y="1196975"/>
            <a:ext cx="11501120" cy="922020"/>
          </a:xfrm>
          <a:prstGeom prst="rect">
            <a:avLst/>
          </a:prstGeom>
          <a:noFill/>
        </p:spPr>
        <p:txBody>
          <a:bodyPr wrap="square" rtlCol="0">
            <a:spAutoFit/>
          </a:bodyPr>
          <a:lstStyle/>
          <a:p>
            <a:r>
              <a:rPr lang="zh-CN" altLang="en-US">
                <a:solidFill>
                  <a:srgbClr val="FF0000"/>
                </a:solidFill>
              </a:rPr>
              <a:t>文件读取：</a:t>
            </a:r>
            <a:r>
              <a:rPr lang="zh-CN" altLang="en-US"/>
              <a:t>通过浏览器上传PDF文件到服务器，可以解析指定部分的文字内容</a:t>
            </a:r>
          </a:p>
          <a:p>
            <a:endParaRPr lang="zh-CN" altLang="en-US"/>
          </a:p>
          <a:p>
            <a:r>
              <a:rPr lang="zh-CN" altLang="en-US"/>
              <a:t>图为输入0读取上传然后展示的文件第一页内容：</a:t>
            </a:r>
          </a:p>
        </p:txBody>
      </p:sp>
      <p:pic>
        <p:nvPicPr>
          <p:cNvPr id="4" name="图片 -2147482617"/>
          <p:cNvPicPr>
            <a:picLocks noChangeAspect="1"/>
          </p:cNvPicPr>
          <p:nvPr>
            <p:custDataLst>
              <p:tags r:id="rId1"/>
            </p:custDataLst>
          </p:nvPr>
        </p:nvPicPr>
        <p:blipFill>
          <a:blip r:embed="rId4"/>
          <a:stretch>
            <a:fillRect/>
          </a:stretch>
        </p:blipFill>
        <p:spPr>
          <a:xfrm>
            <a:off x="1271270" y="2204720"/>
            <a:ext cx="9134475" cy="444754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功能展示</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03</a:t>
            </a:r>
            <a:endParaRPr lang="zh-CN" altLang="en-US" sz="2400" b="1" dirty="0">
              <a:cs typeface="+mn-ea"/>
              <a:sym typeface="+mn-lt"/>
            </a:endParaRPr>
          </a:p>
        </p:txBody>
      </p:sp>
      <p:sp>
        <p:nvSpPr>
          <p:cNvPr id="3" name="文本框 2"/>
          <p:cNvSpPr txBox="1"/>
          <p:nvPr/>
        </p:nvSpPr>
        <p:spPr>
          <a:xfrm>
            <a:off x="342900" y="1196975"/>
            <a:ext cx="11501120" cy="922020"/>
          </a:xfrm>
          <a:prstGeom prst="rect">
            <a:avLst/>
          </a:prstGeom>
          <a:noFill/>
        </p:spPr>
        <p:txBody>
          <a:bodyPr wrap="square" rtlCol="0">
            <a:spAutoFit/>
          </a:bodyPr>
          <a:lstStyle/>
          <a:p>
            <a:r>
              <a:rPr lang="zh-CN" altLang="en-US">
                <a:solidFill>
                  <a:srgbClr val="FF0000"/>
                </a:solidFill>
              </a:rPr>
              <a:t>翻译总结：</a:t>
            </a:r>
            <a:r>
              <a:rPr lang="zh-CN" altLang="en-US"/>
              <a:t>通过API接口使用大模型翻译总结文本内容</a:t>
            </a:r>
          </a:p>
          <a:p>
            <a:endParaRPr lang="zh-CN" altLang="en-US"/>
          </a:p>
          <a:p>
            <a:r>
              <a:rPr lang="zh-CN" altLang="en-US"/>
              <a:t>图为翻译上传文件的</a:t>
            </a:r>
            <a:r>
              <a:rPr lang="zh-CN" altLang="en-US">
                <a:solidFill>
                  <a:schemeClr val="accent6"/>
                </a:solidFill>
              </a:rPr>
              <a:t>标题</a:t>
            </a:r>
            <a:r>
              <a:rPr lang="zh-CN" altLang="en-US"/>
              <a:t>和</a:t>
            </a:r>
            <a:r>
              <a:rPr lang="zh-CN" altLang="en-US">
                <a:solidFill>
                  <a:schemeClr val="accent6"/>
                </a:solidFill>
              </a:rPr>
              <a:t>摘要</a:t>
            </a:r>
            <a:r>
              <a:rPr lang="zh-CN" altLang="en-US"/>
              <a:t>：</a:t>
            </a:r>
          </a:p>
        </p:txBody>
      </p:sp>
      <p:pic>
        <p:nvPicPr>
          <p:cNvPr id="2" name="图片 1"/>
          <p:cNvPicPr>
            <a:picLocks noChangeAspect="1"/>
          </p:cNvPicPr>
          <p:nvPr>
            <p:custDataLst>
              <p:tags r:id="rId1"/>
            </p:custDataLst>
          </p:nvPr>
        </p:nvPicPr>
        <p:blipFill>
          <a:blip r:embed="rId4"/>
          <a:stretch>
            <a:fillRect/>
          </a:stretch>
        </p:blipFill>
        <p:spPr>
          <a:xfrm>
            <a:off x="1271270" y="2204720"/>
            <a:ext cx="9133200" cy="4447051"/>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功能展示</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03</a:t>
            </a:r>
            <a:endParaRPr lang="zh-CN" altLang="en-US" sz="2400" b="1" dirty="0">
              <a:cs typeface="+mn-ea"/>
              <a:sym typeface="+mn-lt"/>
            </a:endParaRPr>
          </a:p>
        </p:txBody>
      </p:sp>
      <p:sp>
        <p:nvSpPr>
          <p:cNvPr id="3" name="文本框 2"/>
          <p:cNvSpPr txBox="1"/>
          <p:nvPr/>
        </p:nvSpPr>
        <p:spPr>
          <a:xfrm>
            <a:off x="342900" y="1196975"/>
            <a:ext cx="11501120" cy="922020"/>
          </a:xfrm>
          <a:prstGeom prst="rect">
            <a:avLst/>
          </a:prstGeom>
          <a:noFill/>
        </p:spPr>
        <p:txBody>
          <a:bodyPr wrap="square" rtlCol="0">
            <a:spAutoFit/>
          </a:bodyPr>
          <a:lstStyle/>
          <a:p>
            <a:r>
              <a:rPr lang="zh-CN" altLang="en-US">
                <a:solidFill>
                  <a:srgbClr val="FF0000"/>
                </a:solidFill>
              </a:rPr>
              <a:t>内容查找：</a:t>
            </a:r>
            <a:r>
              <a:rPr lang="zh-CN" altLang="en-US"/>
              <a:t>选择期刊或会议，年份，输入一个或多个关键词，设置查找类型，即可按顺序展示特定范围内的论文</a:t>
            </a:r>
          </a:p>
          <a:p>
            <a:endParaRPr lang="zh-CN" altLang="en-US"/>
          </a:p>
          <a:p>
            <a:r>
              <a:rPr lang="zh-CN" altLang="en-US"/>
              <a:t>图为SODA和STOC在2018和2019年title中含graph的论文汇总：</a:t>
            </a:r>
          </a:p>
        </p:txBody>
      </p:sp>
      <p:pic>
        <p:nvPicPr>
          <p:cNvPr id="4" name="图片 3"/>
          <p:cNvPicPr>
            <a:picLocks noChangeAspect="1"/>
          </p:cNvPicPr>
          <p:nvPr>
            <p:custDataLst>
              <p:tags r:id="rId1"/>
            </p:custDataLst>
          </p:nvPr>
        </p:nvPicPr>
        <p:blipFill>
          <a:blip r:embed="rId4"/>
          <a:stretch>
            <a:fillRect/>
          </a:stretch>
        </p:blipFill>
        <p:spPr>
          <a:xfrm>
            <a:off x="1271270" y="2204720"/>
            <a:ext cx="9133200" cy="4447051"/>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31994" y="310932"/>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功能展示</a:t>
            </a:r>
          </a:p>
        </p:txBody>
      </p:sp>
      <p:sp>
        <p:nvSpPr>
          <p:cNvPr id="17" name="五边形 16"/>
          <p:cNvSpPr/>
          <p:nvPr/>
        </p:nvSpPr>
        <p:spPr>
          <a:xfrm>
            <a:off x="330826" y="311024"/>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03</a:t>
            </a:r>
            <a:endParaRPr lang="zh-CN" altLang="en-US" sz="2400" b="1" dirty="0">
              <a:cs typeface="+mn-ea"/>
              <a:sym typeface="+mn-lt"/>
            </a:endParaRPr>
          </a:p>
        </p:txBody>
      </p:sp>
      <p:sp>
        <p:nvSpPr>
          <p:cNvPr id="3" name="文本框 2"/>
          <p:cNvSpPr txBox="1"/>
          <p:nvPr/>
        </p:nvSpPr>
        <p:spPr>
          <a:xfrm>
            <a:off x="342900" y="1196975"/>
            <a:ext cx="11501120" cy="368300"/>
          </a:xfrm>
          <a:prstGeom prst="rect">
            <a:avLst/>
          </a:prstGeom>
          <a:noFill/>
        </p:spPr>
        <p:txBody>
          <a:bodyPr wrap="square" rtlCol="0">
            <a:spAutoFit/>
          </a:bodyPr>
          <a:lstStyle/>
          <a:p>
            <a:r>
              <a:rPr lang="zh-CN" altLang="en-US">
                <a:solidFill>
                  <a:srgbClr val="FF0000"/>
                </a:solidFill>
              </a:rPr>
              <a:t>关系绘制与相似推荐：</a:t>
            </a:r>
            <a:r>
              <a:rPr lang="zh-CN" altLang="en-US"/>
              <a:t>不同的数字编号对应不同论文，线条粗细代表关联程度。</a:t>
            </a:r>
          </a:p>
        </p:txBody>
      </p:sp>
      <p:pic>
        <p:nvPicPr>
          <p:cNvPr id="2" name="图片 1"/>
          <p:cNvPicPr>
            <a:picLocks noChangeAspect="1"/>
          </p:cNvPicPr>
          <p:nvPr>
            <p:custDataLst>
              <p:tags r:id="rId1"/>
            </p:custDataLst>
          </p:nvPr>
        </p:nvPicPr>
        <p:blipFill>
          <a:blip r:embed="rId5"/>
          <a:stretch>
            <a:fillRect/>
          </a:stretch>
        </p:blipFill>
        <p:spPr>
          <a:xfrm>
            <a:off x="550863" y="2132965"/>
            <a:ext cx="5694045" cy="2772410"/>
          </a:xfrm>
          <a:prstGeom prst="rect">
            <a:avLst/>
          </a:prstGeom>
          <a:noFill/>
          <a:ln w="9525">
            <a:noFill/>
          </a:ln>
        </p:spPr>
      </p:pic>
      <p:pic>
        <p:nvPicPr>
          <p:cNvPr id="4" name="图片 1"/>
          <p:cNvPicPr>
            <a:picLocks noChangeAspect="1"/>
          </p:cNvPicPr>
          <p:nvPr>
            <p:custDataLst>
              <p:tags r:id="rId2"/>
            </p:custDataLst>
          </p:nvPr>
        </p:nvPicPr>
        <p:blipFill>
          <a:blip r:embed="rId6"/>
          <a:stretch>
            <a:fillRect/>
          </a:stretch>
        </p:blipFill>
        <p:spPr>
          <a:xfrm>
            <a:off x="6311583" y="2132965"/>
            <a:ext cx="5694045" cy="277241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几何风格论文答辩开题报告PPT模版"/>
  <p:tag name="KSO_WPP_MARK_KEY" val="0cbdd90e-25ee-4e46-bb78-2f7d6dcfd26b"/>
  <p:tag name="COMMONDATA" val="eyJoZGlkIjoiMDI1MmVmOTAzNjMxMWZkN2ViNGFmZTA0NTVmNDQzZWY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4_Office 主题">
  <a:themeElements>
    <a:clrScheme name="自定义 1343">
      <a:dk1>
        <a:sysClr val="windowText" lastClr="000000"/>
      </a:dk1>
      <a:lt1>
        <a:sysClr val="window" lastClr="FFFFFF"/>
      </a:lt1>
      <a:dk2>
        <a:srgbClr val="3F3F3F"/>
      </a:dk2>
      <a:lt2>
        <a:srgbClr val="E7E6E6"/>
      </a:lt2>
      <a:accent1>
        <a:srgbClr val="3B397A"/>
      </a:accent1>
      <a:accent2>
        <a:srgbClr val="00A0EA"/>
      </a:accent2>
      <a:accent3>
        <a:srgbClr val="F0C53B"/>
      </a:accent3>
      <a:accent4>
        <a:srgbClr val="FFC000"/>
      </a:accent4>
      <a:accent5>
        <a:srgbClr val="4472C4"/>
      </a:accent5>
      <a:accent6>
        <a:srgbClr val="70AD47"/>
      </a:accent6>
      <a:hlink>
        <a:srgbClr val="0563C1"/>
      </a:hlink>
      <a:folHlink>
        <a:srgbClr val="954F72"/>
      </a:folHlink>
    </a:clrScheme>
    <a:fontScheme name="Temp">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www.33ppt.com</Template>
  <TotalTime>0</TotalTime>
  <Words>633</Words>
  <PresentationFormat>宽屏</PresentationFormat>
  <Paragraphs>98</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Calibri</vt:lpstr>
      <vt:lpstr>14_Office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terms:created xsi:type="dcterms:W3CDTF">2023-12-08T12:08:11Z</dcterms:created>
  <dcterms:modified xsi:type="dcterms:W3CDTF">2023-12-09T08:23:24Z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7B7476C2E57E42DB829FF761BB8A924F_13</vt:lpwstr>
  </property>
</Properties>
</file>