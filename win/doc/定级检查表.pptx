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handoutMasterIdLst>
    <p:handoutMasterId r:id="rId18"/>
  </p:handoutMasterIdLst>
  <p:sldIdLst>
    <p:sldId id="1855" r:id="rId2"/>
    <p:sldId id="1826" r:id="rId3"/>
    <p:sldId id="1857" r:id="rId4"/>
    <p:sldId id="1889" r:id="rId5"/>
    <p:sldId id="1883" r:id="rId6"/>
    <p:sldId id="1877" r:id="rId7"/>
    <p:sldId id="1876" r:id="rId8"/>
    <p:sldId id="1847" r:id="rId9"/>
    <p:sldId id="1884" r:id="rId10"/>
    <p:sldId id="1886" r:id="rId11"/>
    <p:sldId id="1887" r:id="rId12"/>
    <p:sldId id="1888" r:id="rId13"/>
    <p:sldId id="1885" r:id="rId14"/>
    <p:sldId id="1848" r:id="rId15"/>
    <p:sldId id="1874" r:id="rId16"/>
  </p:sldIdLst>
  <p:sldSz cx="12192000" cy="6858000"/>
  <p:notesSz cx="6858000" cy="9144000"/>
  <p:custDataLst>
    <p:tags r:id="rId1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6">
          <p15:clr>
            <a:srgbClr val="A4A3A4"/>
          </p15:clr>
        </p15:guide>
        <p15:guide id="2" pos="3855">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κiζs_緈鍢" initials="κ"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0EA"/>
    <a:srgbClr val="FAFBFD"/>
    <a:srgbClr val="E8EAF8"/>
    <a:srgbClr val="F0F1FA"/>
    <a:srgbClr val="CFD3E8"/>
    <a:srgbClr val="AA805C"/>
    <a:srgbClr val="33326C"/>
    <a:srgbClr val="E53947"/>
    <a:srgbClr val="A5A5A5"/>
    <a:srgbClr val="4053B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182" autoAdjust="0"/>
    <p:restoredTop sz="93095" autoAdjust="0"/>
  </p:normalViewPr>
  <p:slideViewPr>
    <p:cSldViewPr>
      <p:cViewPr>
        <p:scale>
          <a:sx n="80" d="100"/>
          <a:sy n="80" d="100"/>
        </p:scale>
        <p:origin x="638" y="168"/>
      </p:cViewPr>
      <p:guideLst>
        <p:guide orient="horz" pos="2166"/>
        <p:guide pos="3855"/>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2023/9/27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A71216A-7A78-4F6E-AA82-29CFEC344375}" type="datetimeFigureOut">
              <a:rPr lang="zh-CN" altLang="en-US" smtClean="0"/>
              <a:t>2023/9/27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2ADDCEE-B938-4AE8-98CF-EB91900D4C2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06B68A-6829-4462-AE1C-23173783F840}" type="slidenum">
              <a:rPr lang="zh-CN" altLang="en-US" smtClean="0">
                <a:solidFill>
                  <a:prstClr val="black"/>
                </a:solidFill>
              </a:rPr>
              <a:t>1</a:t>
            </a:fld>
            <a:endParaRPr lang="zh-CN" altLang="en-US">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2</a:t>
            </a:fld>
            <a:endParaRPr lang="zh-CN" alt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3</a:t>
            </a:fld>
            <a:endParaRPr lang="zh-CN" altLang="en-US">
              <a:solidFill>
                <a:prstClr val="black"/>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4</a:t>
            </a:fld>
            <a:endParaRPr lang="zh-CN" altLang="en-US"/>
          </a:p>
        </p:txBody>
      </p:sp>
    </p:spTree>
    <p:extLst>
      <p:ext uri="{BB962C8B-B14F-4D97-AF65-F5344CB8AC3E}">
        <p14:creationId xmlns:p14="http://schemas.microsoft.com/office/powerpoint/2010/main" val="1458866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5</a:t>
            </a:fld>
            <a:endParaRPr lang="zh-CN" altLang="en-US"/>
          </a:p>
        </p:txBody>
      </p:sp>
    </p:spTree>
    <p:extLst>
      <p:ext uri="{BB962C8B-B14F-4D97-AF65-F5344CB8AC3E}">
        <p14:creationId xmlns:p14="http://schemas.microsoft.com/office/powerpoint/2010/main" val="7063400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6</a:t>
            </a:fld>
            <a:endParaRPr lang="zh-CN" altLang="en-US"/>
          </a:p>
        </p:txBody>
      </p:sp>
    </p:spTree>
    <p:extLst>
      <p:ext uri="{BB962C8B-B14F-4D97-AF65-F5344CB8AC3E}">
        <p14:creationId xmlns:p14="http://schemas.microsoft.com/office/powerpoint/2010/main" val="6343978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7</a:t>
            </a:fld>
            <a:endParaRPr lang="zh-CN" altLang="en-US"/>
          </a:p>
        </p:txBody>
      </p:sp>
    </p:spTree>
    <p:extLst>
      <p:ext uri="{BB962C8B-B14F-4D97-AF65-F5344CB8AC3E}">
        <p14:creationId xmlns:p14="http://schemas.microsoft.com/office/powerpoint/2010/main" val="31713684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8</a:t>
            </a:fld>
            <a:endParaRPr lang="zh-CN" alt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9</a:t>
            </a:fld>
            <a:endParaRPr lang="zh-CN" altLang="en-US"/>
          </a:p>
        </p:txBody>
      </p:sp>
    </p:spTree>
    <p:extLst>
      <p:ext uri="{BB962C8B-B14F-4D97-AF65-F5344CB8AC3E}">
        <p14:creationId xmlns:p14="http://schemas.microsoft.com/office/powerpoint/2010/main" val="3038002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10</a:t>
            </a:fld>
            <a:endParaRPr lang="zh-CN" altLang="en-US"/>
          </a:p>
        </p:txBody>
      </p:sp>
    </p:spTree>
    <p:extLst>
      <p:ext uri="{BB962C8B-B14F-4D97-AF65-F5344CB8AC3E}">
        <p14:creationId xmlns:p14="http://schemas.microsoft.com/office/powerpoint/2010/main" val="22708853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11</a:t>
            </a:fld>
            <a:endParaRPr lang="zh-CN" altLang="en-US"/>
          </a:p>
        </p:txBody>
      </p:sp>
    </p:spTree>
    <p:extLst>
      <p:ext uri="{BB962C8B-B14F-4D97-AF65-F5344CB8AC3E}">
        <p14:creationId xmlns:p14="http://schemas.microsoft.com/office/powerpoint/2010/main" val="3490218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12</a:t>
            </a:fld>
            <a:endParaRPr lang="zh-CN" altLang="en-US"/>
          </a:p>
        </p:txBody>
      </p:sp>
    </p:spTree>
    <p:extLst>
      <p:ext uri="{BB962C8B-B14F-4D97-AF65-F5344CB8AC3E}">
        <p14:creationId xmlns:p14="http://schemas.microsoft.com/office/powerpoint/2010/main" val="4225872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13</a:t>
            </a:fld>
            <a:endParaRPr lang="zh-CN" altLang="en-US"/>
          </a:p>
        </p:txBody>
      </p:sp>
    </p:spTree>
    <p:extLst>
      <p:ext uri="{BB962C8B-B14F-4D97-AF65-F5344CB8AC3E}">
        <p14:creationId xmlns:p14="http://schemas.microsoft.com/office/powerpoint/2010/main" val="3080562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B669E05-33B4-4031-B6A0-786CF90A18A7}" type="slidenum">
              <a:rPr lang="zh-CN" altLang="en-US" smtClean="0">
                <a:solidFill>
                  <a:prstClr val="black"/>
                </a:solidFill>
              </a:rPr>
              <a:t>14</a:t>
            </a:fld>
            <a:endParaRPr lang="zh-CN" alt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F2ADDCEE-B938-4AE8-98CF-EB91900D4C25}" type="slidenum">
              <a:rPr lang="zh-CN" altLang="en-US" smtClean="0"/>
              <a:t>15</a:t>
            </a:fld>
            <a:endParaRPr lang="zh-CN" altLang="en-US"/>
          </a:p>
        </p:txBody>
      </p:sp>
    </p:spTree>
    <p:extLst>
      <p:ext uri="{BB962C8B-B14F-4D97-AF65-F5344CB8AC3E}">
        <p14:creationId xmlns:p14="http://schemas.microsoft.com/office/powerpoint/2010/main" val="12089736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39" name="组合 38"/>
          <p:cNvGrpSpPr/>
          <p:nvPr userDrawn="1"/>
        </p:nvGrpSpPr>
        <p:grpSpPr>
          <a:xfrm>
            <a:off x="5474146" y="1052736"/>
            <a:ext cx="1243705" cy="1204358"/>
            <a:chOff x="5474146" y="1055546"/>
            <a:chExt cx="1243705" cy="1204358"/>
          </a:xfrm>
          <a:effectLst>
            <a:outerShdw blurRad="114300" dist="63500" dir="2700000" algn="tl" rotWithShape="0">
              <a:prstClr val="black">
                <a:alpha val="10000"/>
              </a:prstClr>
            </a:outerShdw>
          </a:effectLst>
        </p:grpSpPr>
        <p:sp>
          <p:nvSpPr>
            <p:cNvPr id="40" name="Oval 5"/>
            <p:cNvSpPr>
              <a:spLocks noChangeArrowheads="1"/>
            </p:cNvSpPr>
            <p:nvPr/>
          </p:nvSpPr>
          <p:spPr bwMode="auto">
            <a:xfrm>
              <a:off x="5474146" y="1055546"/>
              <a:ext cx="1243705" cy="1204358"/>
            </a:xfrm>
            <a:prstGeom prst="ellipse">
              <a:avLst/>
            </a:prstGeom>
            <a:solidFill>
              <a:srgbClr val="CFD3E8"/>
            </a:solidFill>
            <a:ln w="57150">
              <a:solidFill>
                <a:schemeClr val="bg1"/>
              </a:solidFill>
              <a:round/>
            </a:ln>
          </p:spPr>
          <p:txBody>
            <a:bodyPr vert="horz" wrap="square" lIns="128580" tIns="64290" rIns="128580" bIns="64290" numCol="1" anchor="t" anchorCtr="0" compatLnSpc="1"/>
            <a:lstStyle/>
            <a:p>
              <a:endParaRPr lang="zh-CN" altLang="en-US">
                <a:solidFill>
                  <a:prstClr val="black"/>
                </a:solidFill>
              </a:endParaRPr>
            </a:p>
          </p:txBody>
        </p:sp>
        <p:grpSp>
          <p:nvGrpSpPr>
            <p:cNvPr id="41" name="组合 40"/>
            <p:cNvGrpSpPr/>
            <p:nvPr/>
          </p:nvGrpSpPr>
          <p:grpSpPr>
            <a:xfrm>
              <a:off x="5600206" y="1384823"/>
              <a:ext cx="1087893" cy="845662"/>
              <a:chOff x="5552848" y="1343115"/>
              <a:chExt cx="1138005" cy="884616"/>
            </a:xfrm>
          </p:grpSpPr>
          <p:sp>
            <p:nvSpPr>
              <p:cNvPr id="42" name="Freeform 6"/>
              <p:cNvSpPr/>
              <p:nvPr/>
            </p:nvSpPr>
            <p:spPr bwMode="auto">
              <a:xfrm>
                <a:off x="5558339" y="1489662"/>
                <a:ext cx="1132514" cy="738069"/>
              </a:xfrm>
              <a:custGeom>
                <a:avLst/>
                <a:gdLst>
                  <a:gd name="T0" fmla="*/ 346 w 346"/>
                  <a:gd name="T1" fmla="*/ 43 h 233"/>
                  <a:gd name="T2" fmla="*/ 156 w 346"/>
                  <a:gd name="T3" fmla="*/ 233 h 233"/>
                  <a:gd name="T4" fmla="*/ 128 w 346"/>
                  <a:gd name="T5" fmla="*/ 231 h 233"/>
                  <a:gd name="T6" fmla="*/ 24 w 346"/>
                  <a:gd name="T7" fmla="*/ 127 h 233"/>
                  <a:gd name="T8" fmla="*/ 22 w 346"/>
                  <a:gd name="T9" fmla="*/ 118 h 233"/>
                  <a:gd name="T10" fmla="*/ 32 w 346"/>
                  <a:gd name="T11" fmla="*/ 86 h 233"/>
                  <a:gd name="T12" fmla="*/ 22 w 346"/>
                  <a:gd name="T13" fmla="*/ 76 h 233"/>
                  <a:gd name="T14" fmla="*/ 32 w 346"/>
                  <a:gd name="T15" fmla="*/ 72 h 233"/>
                  <a:gd name="T16" fmla="*/ 33 w 346"/>
                  <a:gd name="T17" fmla="*/ 39 h 233"/>
                  <a:gd name="T18" fmla="*/ 0 w 346"/>
                  <a:gd name="T19" fmla="*/ 7 h 233"/>
                  <a:gd name="T20" fmla="*/ 312 w 346"/>
                  <a:gd name="T21" fmla="*/ 0 h 233"/>
                  <a:gd name="T22" fmla="*/ 346 w 346"/>
                  <a:gd name="T23" fmla="*/ 34 h 233"/>
                  <a:gd name="T24" fmla="*/ 346 w 346"/>
                  <a:gd name="T25" fmla="*/ 43 h 233"/>
                  <a:gd name="connsiteX0" fmla="*/ 10000 w 10000"/>
                  <a:gd name="connsiteY0" fmla="*/ 1845 h 10000"/>
                  <a:gd name="connsiteX1" fmla="*/ 4509 w 10000"/>
                  <a:gd name="connsiteY1" fmla="*/ 10000 h 10000"/>
                  <a:gd name="connsiteX2" fmla="*/ 3699 w 10000"/>
                  <a:gd name="connsiteY2" fmla="*/ 9914 h 10000"/>
                  <a:gd name="connsiteX3" fmla="*/ 694 w 10000"/>
                  <a:gd name="connsiteY3" fmla="*/ 5451 h 10000"/>
                  <a:gd name="connsiteX4" fmla="*/ 636 w 10000"/>
                  <a:gd name="connsiteY4" fmla="*/ 5064 h 10000"/>
                  <a:gd name="connsiteX5" fmla="*/ 925 w 10000"/>
                  <a:gd name="connsiteY5" fmla="*/ 3691 h 10000"/>
                  <a:gd name="connsiteX6" fmla="*/ 636 w 10000"/>
                  <a:gd name="connsiteY6" fmla="*/ 3262 h 10000"/>
                  <a:gd name="connsiteX7" fmla="*/ 925 w 10000"/>
                  <a:gd name="connsiteY7" fmla="*/ 3090 h 10000"/>
                  <a:gd name="connsiteX8" fmla="*/ 954 w 10000"/>
                  <a:gd name="connsiteY8" fmla="*/ 1674 h 10000"/>
                  <a:gd name="connsiteX9" fmla="*/ 0 w 10000"/>
                  <a:gd name="connsiteY9" fmla="*/ 300 h 10000"/>
                  <a:gd name="connsiteX10" fmla="*/ 9017 w 10000"/>
                  <a:gd name="connsiteY10" fmla="*/ 0 h 10000"/>
                  <a:gd name="connsiteX11" fmla="*/ 10000 w 10000"/>
                  <a:gd name="connsiteY11" fmla="*/ 1459 h 10000"/>
                  <a:gd name="connsiteX12" fmla="*/ 10000 w 10000"/>
                  <a:gd name="connsiteY12" fmla="*/ 1845 h 10000"/>
                  <a:gd name="connsiteX0-1" fmla="*/ 10000 w 10000"/>
                  <a:gd name="connsiteY0-2" fmla="*/ 1845 h 10000"/>
                  <a:gd name="connsiteX1-3" fmla="*/ 4509 w 10000"/>
                  <a:gd name="connsiteY1-4" fmla="*/ 10000 h 10000"/>
                  <a:gd name="connsiteX2-5" fmla="*/ 3699 w 10000"/>
                  <a:gd name="connsiteY2-6" fmla="*/ 9914 h 10000"/>
                  <a:gd name="connsiteX3-7" fmla="*/ 694 w 10000"/>
                  <a:gd name="connsiteY3-8" fmla="*/ 5451 h 10000"/>
                  <a:gd name="connsiteX4-9" fmla="*/ 636 w 10000"/>
                  <a:gd name="connsiteY4-10" fmla="*/ 5064 h 10000"/>
                  <a:gd name="connsiteX5-11" fmla="*/ 925 w 10000"/>
                  <a:gd name="connsiteY5-12" fmla="*/ 3691 h 10000"/>
                  <a:gd name="connsiteX6-13" fmla="*/ 636 w 10000"/>
                  <a:gd name="connsiteY6-14" fmla="*/ 3262 h 10000"/>
                  <a:gd name="connsiteX7-15" fmla="*/ 925 w 10000"/>
                  <a:gd name="connsiteY7-16" fmla="*/ 3090 h 10000"/>
                  <a:gd name="connsiteX8-17" fmla="*/ 954 w 10000"/>
                  <a:gd name="connsiteY8-18" fmla="*/ 1674 h 10000"/>
                  <a:gd name="connsiteX9-19" fmla="*/ 0 w 10000"/>
                  <a:gd name="connsiteY9-20" fmla="*/ 300 h 10000"/>
                  <a:gd name="connsiteX10-21" fmla="*/ 9017 w 10000"/>
                  <a:gd name="connsiteY10-22" fmla="*/ 0 h 10000"/>
                  <a:gd name="connsiteX11-23" fmla="*/ 10000 w 10000"/>
                  <a:gd name="connsiteY11-24" fmla="*/ 1459 h 10000"/>
                  <a:gd name="connsiteX12-25" fmla="*/ 10000 w 10000"/>
                  <a:gd name="connsiteY12-26" fmla="*/ 1845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0000" h="10000">
                    <a:moveTo>
                      <a:pt x="10000" y="1845"/>
                    </a:moveTo>
                    <a:cubicBezTo>
                      <a:pt x="10000" y="6352"/>
                      <a:pt x="7693" y="10066"/>
                      <a:pt x="4509" y="10000"/>
                    </a:cubicBezTo>
                    <a:cubicBezTo>
                      <a:pt x="4220" y="9994"/>
                      <a:pt x="3960" y="10000"/>
                      <a:pt x="3699" y="9914"/>
                    </a:cubicBezTo>
                    <a:lnTo>
                      <a:pt x="694" y="5451"/>
                    </a:lnTo>
                    <a:cubicBezTo>
                      <a:pt x="675" y="5322"/>
                      <a:pt x="655" y="5193"/>
                      <a:pt x="636" y="5064"/>
                    </a:cubicBezTo>
                    <a:cubicBezTo>
                      <a:pt x="732" y="4606"/>
                      <a:pt x="829" y="4149"/>
                      <a:pt x="925" y="3691"/>
                    </a:cubicBezTo>
                    <a:lnTo>
                      <a:pt x="636" y="3262"/>
                    </a:lnTo>
                    <a:lnTo>
                      <a:pt x="925" y="3090"/>
                    </a:lnTo>
                    <a:cubicBezTo>
                      <a:pt x="935" y="2618"/>
                      <a:pt x="944" y="2146"/>
                      <a:pt x="954" y="1674"/>
                    </a:cubicBezTo>
                    <a:lnTo>
                      <a:pt x="0" y="300"/>
                    </a:lnTo>
                    <a:lnTo>
                      <a:pt x="9017" y="0"/>
                    </a:lnTo>
                    <a:lnTo>
                      <a:pt x="10000" y="1459"/>
                    </a:lnTo>
                    <a:lnTo>
                      <a:pt x="10000" y="1845"/>
                    </a:lnTo>
                    <a:close/>
                  </a:path>
                </a:pathLst>
              </a:custGeom>
              <a:solidFill>
                <a:srgbClr val="A7AFD5"/>
              </a:solid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endParaRPr lang="zh-CN" altLang="en-US">
                  <a:solidFill>
                    <a:prstClr val="black"/>
                  </a:solidFill>
                </a:endParaRPr>
              </a:p>
            </p:txBody>
          </p:sp>
          <p:sp>
            <p:nvSpPr>
              <p:cNvPr id="43" name="Freeform 7"/>
              <p:cNvSpPr>
                <a:spLocks noEditPoints="1"/>
              </p:cNvSpPr>
              <p:nvPr/>
            </p:nvSpPr>
            <p:spPr bwMode="auto">
              <a:xfrm>
                <a:off x="5552848" y="1343115"/>
                <a:ext cx="1033676" cy="567542"/>
              </a:xfrm>
              <a:custGeom>
                <a:avLst/>
                <a:gdLst>
                  <a:gd name="T0" fmla="*/ 72 w 316"/>
                  <a:gd name="T1" fmla="*/ 96 h 179"/>
                  <a:gd name="T2" fmla="*/ 72 w 316"/>
                  <a:gd name="T3" fmla="*/ 133 h 179"/>
                  <a:gd name="T4" fmla="*/ 244 w 316"/>
                  <a:gd name="T5" fmla="*/ 133 h 179"/>
                  <a:gd name="T6" fmla="*/ 244 w 316"/>
                  <a:gd name="T7" fmla="*/ 96 h 179"/>
                  <a:gd name="T8" fmla="*/ 237 w 316"/>
                  <a:gd name="T9" fmla="*/ 91 h 179"/>
                  <a:gd name="T10" fmla="*/ 163 w 316"/>
                  <a:gd name="T11" fmla="*/ 122 h 179"/>
                  <a:gd name="T12" fmla="*/ 153 w 316"/>
                  <a:gd name="T13" fmla="*/ 122 h 179"/>
                  <a:gd name="T14" fmla="*/ 80 w 316"/>
                  <a:gd name="T15" fmla="*/ 91 h 179"/>
                  <a:gd name="T16" fmla="*/ 72 w 316"/>
                  <a:gd name="T17" fmla="*/ 96 h 179"/>
                  <a:gd name="T18" fmla="*/ 39 w 316"/>
                  <a:gd name="T19" fmla="*/ 73 h 179"/>
                  <a:gd name="T20" fmla="*/ 39 w 316"/>
                  <a:gd name="T21" fmla="*/ 106 h 179"/>
                  <a:gd name="T22" fmla="*/ 39 w 316"/>
                  <a:gd name="T23" fmla="*/ 107 h 179"/>
                  <a:gd name="T24" fmla="*/ 41 w 316"/>
                  <a:gd name="T25" fmla="*/ 107 h 179"/>
                  <a:gd name="T26" fmla="*/ 45 w 316"/>
                  <a:gd name="T27" fmla="*/ 112 h 179"/>
                  <a:gd name="T28" fmla="*/ 44 w 316"/>
                  <a:gd name="T29" fmla="*/ 119 h 179"/>
                  <a:gd name="T30" fmla="*/ 44 w 316"/>
                  <a:gd name="T31" fmla="*/ 119 h 179"/>
                  <a:gd name="T32" fmla="*/ 44 w 316"/>
                  <a:gd name="T33" fmla="*/ 123 h 179"/>
                  <a:gd name="T34" fmla="*/ 44 w 316"/>
                  <a:gd name="T35" fmla="*/ 124 h 179"/>
                  <a:gd name="T36" fmla="*/ 42 w 316"/>
                  <a:gd name="T37" fmla="*/ 174 h 179"/>
                  <a:gd name="T38" fmla="*/ 41 w 316"/>
                  <a:gd name="T39" fmla="*/ 174 h 179"/>
                  <a:gd name="T40" fmla="*/ 42 w 316"/>
                  <a:gd name="T41" fmla="*/ 169 h 179"/>
                  <a:gd name="T42" fmla="*/ 40 w 316"/>
                  <a:gd name="T43" fmla="*/ 169 h 179"/>
                  <a:gd name="T44" fmla="*/ 35 w 316"/>
                  <a:gd name="T45" fmla="*/ 179 h 179"/>
                  <a:gd name="T46" fmla="*/ 34 w 316"/>
                  <a:gd name="T47" fmla="*/ 178 h 179"/>
                  <a:gd name="T48" fmla="*/ 33 w 316"/>
                  <a:gd name="T49" fmla="*/ 168 h 179"/>
                  <a:gd name="T50" fmla="*/ 31 w 316"/>
                  <a:gd name="T51" fmla="*/ 166 h 179"/>
                  <a:gd name="T52" fmla="*/ 31 w 316"/>
                  <a:gd name="T53" fmla="*/ 172 h 179"/>
                  <a:gd name="T54" fmla="*/ 30 w 316"/>
                  <a:gd name="T55" fmla="*/ 172 h 179"/>
                  <a:gd name="T56" fmla="*/ 29 w 316"/>
                  <a:gd name="T57" fmla="*/ 168 h 179"/>
                  <a:gd name="T58" fmla="*/ 28 w 316"/>
                  <a:gd name="T59" fmla="*/ 169 h 179"/>
                  <a:gd name="T60" fmla="*/ 28 w 316"/>
                  <a:gd name="T61" fmla="*/ 174 h 179"/>
                  <a:gd name="T62" fmla="*/ 27 w 316"/>
                  <a:gd name="T63" fmla="*/ 175 h 179"/>
                  <a:gd name="T64" fmla="*/ 26 w 316"/>
                  <a:gd name="T65" fmla="*/ 123 h 179"/>
                  <a:gd name="T66" fmla="*/ 26 w 316"/>
                  <a:gd name="T67" fmla="*/ 122 h 179"/>
                  <a:gd name="T68" fmla="*/ 26 w 316"/>
                  <a:gd name="T69" fmla="*/ 118 h 179"/>
                  <a:gd name="T70" fmla="*/ 26 w 316"/>
                  <a:gd name="T71" fmla="*/ 118 h 179"/>
                  <a:gd name="T72" fmla="*/ 25 w 316"/>
                  <a:gd name="T73" fmla="*/ 112 h 179"/>
                  <a:gd name="T74" fmla="*/ 30 w 316"/>
                  <a:gd name="T75" fmla="*/ 105 h 179"/>
                  <a:gd name="T76" fmla="*/ 32 w 316"/>
                  <a:gd name="T77" fmla="*/ 105 h 179"/>
                  <a:gd name="T78" fmla="*/ 32 w 316"/>
                  <a:gd name="T79" fmla="*/ 104 h 179"/>
                  <a:gd name="T80" fmla="*/ 32 w 316"/>
                  <a:gd name="T81" fmla="*/ 68 h 179"/>
                  <a:gd name="T82" fmla="*/ 30 w 316"/>
                  <a:gd name="T83" fmla="*/ 65 h 179"/>
                  <a:gd name="T84" fmla="*/ 4 w 316"/>
                  <a:gd name="T85" fmla="*/ 54 h 179"/>
                  <a:gd name="T86" fmla="*/ 4 w 316"/>
                  <a:gd name="T87" fmla="*/ 45 h 179"/>
                  <a:gd name="T88" fmla="*/ 154 w 316"/>
                  <a:gd name="T89" fmla="*/ 0 h 179"/>
                  <a:gd name="T90" fmla="*/ 162 w 316"/>
                  <a:gd name="T91" fmla="*/ 0 h 179"/>
                  <a:gd name="T92" fmla="*/ 311 w 316"/>
                  <a:gd name="T93" fmla="*/ 45 h 179"/>
                  <a:gd name="T94" fmla="*/ 312 w 316"/>
                  <a:gd name="T95" fmla="*/ 54 h 179"/>
                  <a:gd name="T96" fmla="*/ 163 w 316"/>
                  <a:gd name="T97" fmla="*/ 116 h 179"/>
                  <a:gd name="T98" fmla="*/ 153 w 316"/>
                  <a:gd name="T99" fmla="*/ 116 h 179"/>
                  <a:gd name="T100" fmla="*/ 43 w 316"/>
                  <a:gd name="T101" fmla="*/ 70 h 179"/>
                  <a:gd name="T102" fmla="*/ 39 w 316"/>
                  <a:gd name="T103" fmla="*/ 7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16" h="179">
                    <a:moveTo>
                      <a:pt x="72" y="96"/>
                    </a:moveTo>
                    <a:cubicBezTo>
                      <a:pt x="72" y="133"/>
                      <a:pt x="72" y="133"/>
                      <a:pt x="72" y="133"/>
                    </a:cubicBezTo>
                    <a:cubicBezTo>
                      <a:pt x="72" y="177"/>
                      <a:pt x="244" y="177"/>
                      <a:pt x="244" y="133"/>
                    </a:cubicBezTo>
                    <a:cubicBezTo>
                      <a:pt x="244" y="96"/>
                      <a:pt x="244" y="96"/>
                      <a:pt x="244" y="96"/>
                    </a:cubicBezTo>
                    <a:cubicBezTo>
                      <a:pt x="244" y="92"/>
                      <a:pt x="240" y="89"/>
                      <a:pt x="237" y="91"/>
                    </a:cubicBezTo>
                    <a:cubicBezTo>
                      <a:pt x="163" y="122"/>
                      <a:pt x="163" y="122"/>
                      <a:pt x="163" y="122"/>
                    </a:cubicBezTo>
                    <a:cubicBezTo>
                      <a:pt x="160" y="123"/>
                      <a:pt x="156" y="123"/>
                      <a:pt x="153" y="122"/>
                    </a:cubicBezTo>
                    <a:cubicBezTo>
                      <a:pt x="80" y="91"/>
                      <a:pt x="80" y="91"/>
                      <a:pt x="80" y="91"/>
                    </a:cubicBezTo>
                    <a:cubicBezTo>
                      <a:pt x="76" y="89"/>
                      <a:pt x="72" y="92"/>
                      <a:pt x="72" y="96"/>
                    </a:cubicBezTo>
                    <a:close/>
                    <a:moveTo>
                      <a:pt x="39" y="73"/>
                    </a:moveTo>
                    <a:cubicBezTo>
                      <a:pt x="39" y="106"/>
                      <a:pt x="39" y="106"/>
                      <a:pt x="39" y="106"/>
                    </a:cubicBezTo>
                    <a:cubicBezTo>
                      <a:pt x="39" y="106"/>
                      <a:pt x="39" y="106"/>
                      <a:pt x="39" y="107"/>
                    </a:cubicBezTo>
                    <a:cubicBezTo>
                      <a:pt x="40" y="107"/>
                      <a:pt x="40" y="107"/>
                      <a:pt x="41" y="107"/>
                    </a:cubicBezTo>
                    <a:cubicBezTo>
                      <a:pt x="45" y="105"/>
                      <a:pt x="45" y="109"/>
                      <a:pt x="45" y="112"/>
                    </a:cubicBezTo>
                    <a:cubicBezTo>
                      <a:pt x="45" y="114"/>
                      <a:pt x="45" y="117"/>
                      <a:pt x="44" y="119"/>
                    </a:cubicBezTo>
                    <a:cubicBezTo>
                      <a:pt x="44" y="119"/>
                      <a:pt x="44" y="119"/>
                      <a:pt x="44" y="119"/>
                    </a:cubicBezTo>
                    <a:cubicBezTo>
                      <a:pt x="46" y="120"/>
                      <a:pt x="46" y="123"/>
                      <a:pt x="44" y="123"/>
                    </a:cubicBezTo>
                    <a:cubicBezTo>
                      <a:pt x="44" y="123"/>
                      <a:pt x="44" y="124"/>
                      <a:pt x="44" y="124"/>
                    </a:cubicBezTo>
                    <a:cubicBezTo>
                      <a:pt x="53" y="139"/>
                      <a:pt x="57" y="161"/>
                      <a:pt x="42" y="174"/>
                    </a:cubicBezTo>
                    <a:cubicBezTo>
                      <a:pt x="41" y="175"/>
                      <a:pt x="41" y="175"/>
                      <a:pt x="41" y="174"/>
                    </a:cubicBezTo>
                    <a:cubicBezTo>
                      <a:pt x="41" y="172"/>
                      <a:pt x="42" y="171"/>
                      <a:pt x="42" y="169"/>
                    </a:cubicBezTo>
                    <a:cubicBezTo>
                      <a:pt x="43" y="163"/>
                      <a:pt x="42" y="163"/>
                      <a:pt x="40" y="169"/>
                    </a:cubicBezTo>
                    <a:cubicBezTo>
                      <a:pt x="39" y="173"/>
                      <a:pt x="37" y="176"/>
                      <a:pt x="35" y="179"/>
                    </a:cubicBezTo>
                    <a:cubicBezTo>
                      <a:pt x="35" y="179"/>
                      <a:pt x="34" y="179"/>
                      <a:pt x="34" y="178"/>
                    </a:cubicBezTo>
                    <a:cubicBezTo>
                      <a:pt x="34" y="175"/>
                      <a:pt x="34" y="172"/>
                      <a:pt x="33" y="168"/>
                    </a:cubicBezTo>
                    <a:cubicBezTo>
                      <a:pt x="33" y="161"/>
                      <a:pt x="32" y="160"/>
                      <a:pt x="31" y="166"/>
                    </a:cubicBezTo>
                    <a:cubicBezTo>
                      <a:pt x="31" y="168"/>
                      <a:pt x="31" y="170"/>
                      <a:pt x="31" y="172"/>
                    </a:cubicBezTo>
                    <a:cubicBezTo>
                      <a:pt x="31" y="173"/>
                      <a:pt x="31" y="174"/>
                      <a:pt x="30" y="172"/>
                    </a:cubicBezTo>
                    <a:cubicBezTo>
                      <a:pt x="30" y="171"/>
                      <a:pt x="30" y="170"/>
                      <a:pt x="29" y="168"/>
                    </a:cubicBezTo>
                    <a:cubicBezTo>
                      <a:pt x="28" y="165"/>
                      <a:pt x="28" y="165"/>
                      <a:pt x="28" y="169"/>
                    </a:cubicBezTo>
                    <a:cubicBezTo>
                      <a:pt x="28" y="171"/>
                      <a:pt x="28" y="172"/>
                      <a:pt x="28" y="174"/>
                    </a:cubicBezTo>
                    <a:cubicBezTo>
                      <a:pt x="28" y="175"/>
                      <a:pt x="28" y="175"/>
                      <a:pt x="27" y="175"/>
                    </a:cubicBezTo>
                    <a:cubicBezTo>
                      <a:pt x="13" y="162"/>
                      <a:pt x="13" y="142"/>
                      <a:pt x="26" y="123"/>
                    </a:cubicBezTo>
                    <a:cubicBezTo>
                      <a:pt x="26" y="123"/>
                      <a:pt x="26" y="123"/>
                      <a:pt x="26" y="122"/>
                    </a:cubicBezTo>
                    <a:cubicBezTo>
                      <a:pt x="23" y="122"/>
                      <a:pt x="23" y="119"/>
                      <a:pt x="26" y="118"/>
                    </a:cubicBezTo>
                    <a:cubicBezTo>
                      <a:pt x="26" y="118"/>
                      <a:pt x="26" y="118"/>
                      <a:pt x="26" y="118"/>
                    </a:cubicBezTo>
                    <a:cubicBezTo>
                      <a:pt x="26" y="116"/>
                      <a:pt x="25" y="114"/>
                      <a:pt x="25" y="112"/>
                    </a:cubicBezTo>
                    <a:cubicBezTo>
                      <a:pt x="25" y="110"/>
                      <a:pt x="27" y="104"/>
                      <a:pt x="30" y="105"/>
                    </a:cubicBezTo>
                    <a:cubicBezTo>
                      <a:pt x="31" y="106"/>
                      <a:pt x="31" y="106"/>
                      <a:pt x="32" y="105"/>
                    </a:cubicBezTo>
                    <a:cubicBezTo>
                      <a:pt x="32" y="105"/>
                      <a:pt x="32" y="105"/>
                      <a:pt x="32" y="104"/>
                    </a:cubicBezTo>
                    <a:cubicBezTo>
                      <a:pt x="32" y="68"/>
                      <a:pt x="32" y="68"/>
                      <a:pt x="32" y="68"/>
                    </a:cubicBezTo>
                    <a:cubicBezTo>
                      <a:pt x="32" y="67"/>
                      <a:pt x="32" y="65"/>
                      <a:pt x="30" y="65"/>
                    </a:cubicBezTo>
                    <a:cubicBezTo>
                      <a:pt x="4" y="54"/>
                      <a:pt x="4" y="54"/>
                      <a:pt x="4" y="54"/>
                    </a:cubicBezTo>
                    <a:cubicBezTo>
                      <a:pt x="0" y="52"/>
                      <a:pt x="0" y="46"/>
                      <a:pt x="4" y="45"/>
                    </a:cubicBezTo>
                    <a:cubicBezTo>
                      <a:pt x="154" y="0"/>
                      <a:pt x="154" y="0"/>
                      <a:pt x="154" y="0"/>
                    </a:cubicBezTo>
                    <a:cubicBezTo>
                      <a:pt x="157" y="0"/>
                      <a:pt x="159" y="0"/>
                      <a:pt x="162" y="0"/>
                    </a:cubicBezTo>
                    <a:cubicBezTo>
                      <a:pt x="311" y="45"/>
                      <a:pt x="311" y="45"/>
                      <a:pt x="311" y="45"/>
                    </a:cubicBezTo>
                    <a:cubicBezTo>
                      <a:pt x="316" y="46"/>
                      <a:pt x="316" y="52"/>
                      <a:pt x="312" y="54"/>
                    </a:cubicBezTo>
                    <a:cubicBezTo>
                      <a:pt x="163" y="116"/>
                      <a:pt x="163" y="116"/>
                      <a:pt x="163" y="116"/>
                    </a:cubicBezTo>
                    <a:cubicBezTo>
                      <a:pt x="160" y="118"/>
                      <a:pt x="156" y="118"/>
                      <a:pt x="153" y="116"/>
                    </a:cubicBezTo>
                    <a:cubicBezTo>
                      <a:pt x="43" y="70"/>
                      <a:pt x="43" y="70"/>
                      <a:pt x="43" y="70"/>
                    </a:cubicBezTo>
                    <a:cubicBezTo>
                      <a:pt x="41" y="69"/>
                      <a:pt x="39" y="71"/>
                      <a:pt x="39" y="73"/>
                    </a:cubicBezTo>
                    <a:close/>
                  </a:path>
                </a:pathLst>
              </a:custGeom>
              <a:solidFill>
                <a:srgbClr val="3B397A"/>
              </a:solidFill>
              <a:ln w="9525">
                <a:solidFill>
                  <a:schemeClr val="bg1"/>
                </a:solidFill>
                <a:round/>
              </a:ln>
            </p:spPr>
            <p:style>
              <a:lnRef idx="2">
                <a:schemeClr val="dk1"/>
              </a:lnRef>
              <a:fillRef idx="1">
                <a:schemeClr val="lt1"/>
              </a:fillRef>
              <a:effectRef idx="0">
                <a:schemeClr val="dk1"/>
              </a:effectRef>
              <a:fontRef idx="minor">
                <a:schemeClr val="dk1"/>
              </a:fontRef>
            </p:style>
            <p:txBody>
              <a:bodyPr vert="horz" wrap="square" lIns="128580" tIns="64290" rIns="128580" bIns="64290" numCol="1" anchor="t" anchorCtr="0" compatLnSpc="1"/>
              <a:lstStyle/>
              <a:p>
                <a:endParaRPr lang="zh-CN" altLang="en-US">
                  <a:solidFill>
                    <a:prstClr val="black"/>
                  </a:solidFill>
                </a:endParaRPr>
              </a:p>
            </p:txBody>
          </p:sp>
        </p:grpSp>
      </p:gr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
        <p:nvSpPr>
          <p:cNvPr id="20" name="等腰三角形 19"/>
          <p:cNvSpPr/>
          <p:nvPr userDrawn="1"/>
        </p:nvSpPr>
        <p:spPr>
          <a:xfrm>
            <a:off x="1878297" y="5047109"/>
            <a:ext cx="2589498" cy="1810893"/>
          </a:xfrm>
          <a:prstGeom prst="triangle">
            <a:avLst/>
          </a:prstGeom>
          <a:solidFill>
            <a:srgbClr val="F0F1FA"/>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nvSpPr>
        <p:spPr>
          <a:xfrm rot="10800000" flipH="1">
            <a:off x="1878295" y="-10276"/>
            <a:ext cx="2589496" cy="1810892"/>
          </a:xfrm>
          <a:prstGeom prst="triangle">
            <a:avLst/>
          </a:prstGeom>
          <a:solidFill>
            <a:srgbClr val="F0F1FA"/>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任意多边形 21"/>
          <p:cNvSpPr/>
          <p:nvPr userDrawn="1"/>
        </p:nvSpPr>
        <p:spPr>
          <a:xfrm rot="5400000">
            <a:off x="-967947" y="1520704"/>
            <a:ext cx="6868281" cy="3806313"/>
          </a:xfrm>
          <a:custGeom>
            <a:avLst/>
            <a:gdLst>
              <a:gd name="connsiteX0" fmla="*/ 0 w 6868281"/>
              <a:gd name="connsiteY0" fmla="*/ 3806313 h 3806313"/>
              <a:gd name="connsiteX1" fmla="*/ 0 w 6868281"/>
              <a:gd name="connsiteY1" fmla="*/ 2463749 h 3806313"/>
              <a:gd name="connsiteX2" fmla="*/ 3510721 w 6868281"/>
              <a:gd name="connsiteY2" fmla="*/ 0 h 3806313"/>
              <a:gd name="connsiteX3" fmla="*/ 6868281 w 6868281"/>
              <a:gd name="connsiteY3" fmla="*/ 2356266 h 3806313"/>
              <a:gd name="connsiteX4" fmla="*/ 6868281 w 6868281"/>
              <a:gd name="connsiteY4" fmla="*/ 3806313 h 3806313"/>
              <a:gd name="connsiteX5" fmla="*/ 0 w 6868281"/>
              <a:gd name="connsiteY5" fmla="*/ 3806313 h 380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8281" h="3806313">
                <a:moveTo>
                  <a:pt x="0" y="3806313"/>
                </a:moveTo>
                <a:lnTo>
                  <a:pt x="0" y="2463749"/>
                </a:lnTo>
                <a:lnTo>
                  <a:pt x="3510721" y="0"/>
                </a:lnTo>
                <a:lnTo>
                  <a:pt x="6868281" y="2356266"/>
                </a:lnTo>
                <a:lnTo>
                  <a:pt x="6868281" y="3806313"/>
                </a:lnTo>
                <a:lnTo>
                  <a:pt x="0" y="3806313"/>
                </a:lnTo>
                <a:close/>
              </a:path>
            </a:pathLst>
          </a:custGeom>
          <a:solidFill>
            <a:srgbClr val="F0F1FA"/>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3" name="等腰三角形 22"/>
          <p:cNvSpPr/>
          <p:nvPr userDrawn="1"/>
        </p:nvSpPr>
        <p:spPr>
          <a:xfrm>
            <a:off x="1320939" y="5047107"/>
            <a:ext cx="2589498" cy="1810893"/>
          </a:xfrm>
          <a:prstGeom prst="triangle">
            <a:avLst/>
          </a:prstGeom>
          <a:solidFill>
            <a:srgbClr val="CFD3E8"/>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userDrawn="1"/>
        </p:nvSpPr>
        <p:spPr>
          <a:xfrm rot="10800000" flipH="1">
            <a:off x="1320937" y="-10279"/>
            <a:ext cx="2589496" cy="1810892"/>
          </a:xfrm>
          <a:prstGeom prst="triangle">
            <a:avLst/>
          </a:prstGeom>
          <a:solidFill>
            <a:srgbClr val="CFD3E8"/>
          </a:solidFill>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任意多边形 24"/>
          <p:cNvSpPr/>
          <p:nvPr userDrawn="1"/>
        </p:nvSpPr>
        <p:spPr>
          <a:xfrm rot="5400000">
            <a:off x="-1530984" y="1520704"/>
            <a:ext cx="6868279" cy="3806313"/>
          </a:xfrm>
          <a:custGeom>
            <a:avLst/>
            <a:gdLst>
              <a:gd name="connsiteX0" fmla="*/ 0 w 6868279"/>
              <a:gd name="connsiteY0" fmla="*/ 3806313 h 3806313"/>
              <a:gd name="connsiteX1" fmla="*/ 0 w 6868279"/>
              <a:gd name="connsiteY1" fmla="*/ 2463749 h 3806313"/>
              <a:gd name="connsiteX2" fmla="*/ 3510719 w 6868279"/>
              <a:gd name="connsiteY2" fmla="*/ 0 h 3806313"/>
              <a:gd name="connsiteX3" fmla="*/ 6868279 w 6868279"/>
              <a:gd name="connsiteY3" fmla="*/ 2356266 h 3806313"/>
              <a:gd name="connsiteX4" fmla="*/ 6868279 w 6868279"/>
              <a:gd name="connsiteY4" fmla="*/ 3806313 h 3806313"/>
              <a:gd name="connsiteX5" fmla="*/ 0 w 6868279"/>
              <a:gd name="connsiteY5" fmla="*/ 3806313 h 38063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68279" h="3806313">
                <a:moveTo>
                  <a:pt x="0" y="3806313"/>
                </a:moveTo>
                <a:lnTo>
                  <a:pt x="0" y="2463749"/>
                </a:lnTo>
                <a:lnTo>
                  <a:pt x="3510719" y="0"/>
                </a:lnTo>
                <a:lnTo>
                  <a:pt x="6868279" y="2356266"/>
                </a:lnTo>
                <a:lnTo>
                  <a:pt x="6868279" y="3806313"/>
                </a:lnTo>
                <a:lnTo>
                  <a:pt x="0" y="3806313"/>
                </a:lnTo>
                <a:close/>
              </a:path>
            </a:pathLst>
          </a:custGeom>
          <a:ln>
            <a:noFill/>
          </a:ln>
          <a:effectLst>
            <a:outerShdw blurRad="114300" dist="50800" algn="t"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8" name="直角三角形 7"/>
          <p:cNvSpPr/>
          <p:nvPr userDrawn="1"/>
        </p:nvSpPr>
        <p:spPr>
          <a:xfrm flipV="1">
            <a:off x="119336" y="146699"/>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直角三角形 8"/>
          <p:cNvSpPr/>
          <p:nvPr userDrawn="1"/>
        </p:nvSpPr>
        <p:spPr>
          <a:xfrm rot="10800000" flipV="1">
            <a:off x="10344472" y="5003956"/>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pic>
        <p:nvPicPr>
          <p:cNvPr id="3" name="图片 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805" y="0"/>
            <a:ext cx="12188389"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矩形 2"/>
          <p:cNvSpPr/>
          <p:nvPr userDrawn="1"/>
        </p:nvSpPr>
        <p:spPr>
          <a:xfrm>
            <a:off x="0" y="0"/>
            <a:ext cx="12191028" cy="6858000"/>
          </a:xfrm>
          <a:prstGeom prst="rect">
            <a:avLst/>
          </a:prstGeom>
          <a:solidFill>
            <a:srgbClr val="FAFBF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xmlns:p14="http://schemas.microsoft.com/office/powerpoint/2010/main">
    <mc:Choice Requires="p14">
      <p:transition spd="slow" p14:dur="1500" advTm="0">
        <p:random/>
      </p:transition>
    </mc:Choice>
    <mc:Fallback xmlns="">
      <p:transition spd="slow" advTm="0">
        <p:random/>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hyperlink" Target="https://win.sunnuay.com/"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文本框 69"/>
          <p:cNvSpPr txBox="1"/>
          <p:nvPr/>
        </p:nvSpPr>
        <p:spPr>
          <a:xfrm>
            <a:off x="4515561" y="2921168"/>
            <a:ext cx="3262432" cy="1015663"/>
          </a:xfrm>
          <a:prstGeom prst="rect">
            <a:avLst/>
          </a:prstGeom>
          <a:noFill/>
        </p:spPr>
        <p:txBody>
          <a:bodyPr wrap="none" rtlCol="0" anchor="ctr">
            <a:spAutoFit/>
          </a:bodyPr>
          <a:lstStyle>
            <a:defPPr>
              <a:defRPr lang="zh-CN"/>
            </a:defPPr>
            <a:lvl1pPr algn="ctr">
              <a:defRPr sz="75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sz="6000" dirty="0">
                <a:effectLst/>
                <a:latin typeface="+mn-lt"/>
                <a:ea typeface="+mn-ea"/>
                <a:cs typeface="+mn-ea"/>
                <a:sym typeface="+mn-lt"/>
              </a:rPr>
              <a:t>博览群篇</a:t>
            </a:r>
            <a:endParaRPr lang="zh-CN" sz="6000" dirty="0">
              <a:effectLst/>
              <a:latin typeface="+mn-lt"/>
              <a:ea typeface="+mn-ea"/>
              <a:cs typeface="+mn-ea"/>
              <a:sym typeface="+mn-lt"/>
            </a:endParaRPr>
          </a:p>
        </p:txBody>
      </p:sp>
      <p:sp>
        <p:nvSpPr>
          <p:cNvPr id="72" name="文本框 71"/>
          <p:cNvSpPr txBox="1"/>
          <p:nvPr/>
        </p:nvSpPr>
        <p:spPr>
          <a:xfrm>
            <a:off x="3379933" y="4913583"/>
            <a:ext cx="5428088" cy="461665"/>
          </a:xfrm>
          <a:prstGeom prst="rect">
            <a:avLst/>
          </a:prstGeom>
          <a:noFill/>
        </p:spPr>
        <p:txBody>
          <a:bodyPr wrap="none" rtlCol="0" anchor="ctr">
            <a:spAutoFit/>
          </a:bodyPr>
          <a:lstStyle>
            <a:defPPr>
              <a:defRPr lang="zh-CN"/>
            </a:defPPr>
            <a:lvl1pPr algn="ctr">
              <a:defRPr sz="24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effectLst/>
                <a:latin typeface="+mn-lt"/>
                <a:ea typeface="+mn-ea"/>
                <a:cs typeface="+mn-ea"/>
                <a:sym typeface="+mn-lt"/>
              </a:rPr>
              <a:t>指导教师：唐中正           答辩人：孙源</a:t>
            </a:r>
          </a:p>
        </p:txBody>
      </p:sp>
      <p:sp>
        <p:nvSpPr>
          <p:cNvPr id="87" name="文本框 86"/>
          <p:cNvSpPr txBox="1"/>
          <p:nvPr/>
        </p:nvSpPr>
        <p:spPr>
          <a:xfrm>
            <a:off x="3019379" y="4021123"/>
            <a:ext cx="6254795" cy="713681"/>
          </a:xfrm>
          <a:prstGeom prst="rect">
            <a:avLst/>
          </a:prstGeom>
          <a:noFill/>
        </p:spPr>
        <p:txBody>
          <a:bodyPr wrap="square" rtlCol="0" anchor="ctr">
            <a:noAutofit/>
          </a:bodyPr>
          <a:lstStyle>
            <a:defPPr>
              <a:defRPr lang="zh-CN"/>
            </a:defPPr>
            <a:lvl1pPr>
              <a:lnSpc>
                <a:spcPct val="130000"/>
              </a:lnSpc>
              <a:defRPr sz="1200">
                <a:solidFill>
                  <a:schemeClr val="tx2"/>
                </a:solidFill>
                <a:latin typeface="Open Sans Light"/>
                <a:cs typeface="Open Sans Light"/>
              </a:defRPr>
            </a:lvl1pPr>
          </a:lstStyle>
          <a:p>
            <a:pPr algn="ctr"/>
            <a:r>
              <a:rPr lang="zh-CN" altLang="en-US" sz="2000" dirty="0">
                <a:latin typeface="+mn-lt"/>
                <a:cs typeface="+mn-ea"/>
                <a:sym typeface="+mn-lt"/>
              </a:rPr>
              <a:t>智能驱动的文献分析可视化工具</a:t>
            </a:r>
          </a:p>
        </p:txBody>
      </p:sp>
      <p:grpSp>
        <p:nvGrpSpPr>
          <p:cNvPr id="3" name="组合 2"/>
          <p:cNvGrpSpPr/>
          <p:nvPr/>
        </p:nvGrpSpPr>
        <p:grpSpPr>
          <a:xfrm>
            <a:off x="5474146" y="1052736"/>
            <a:ext cx="1243705" cy="1204358"/>
            <a:chOff x="5474146" y="1055546"/>
            <a:chExt cx="1243705" cy="1204358"/>
          </a:xfrm>
          <a:effectLst>
            <a:outerShdw blurRad="114300" dist="63500" dir="2700000" algn="tl" rotWithShape="0">
              <a:prstClr val="black">
                <a:alpha val="10000"/>
              </a:prstClr>
            </a:outerShdw>
          </a:effectLst>
        </p:grpSpPr>
        <p:sp>
          <p:nvSpPr>
            <p:cNvPr id="16" name="Oval 5"/>
            <p:cNvSpPr>
              <a:spLocks noChangeArrowheads="1"/>
            </p:cNvSpPr>
            <p:nvPr/>
          </p:nvSpPr>
          <p:spPr bwMode="auto">
            <a:xfrm>
              <a:off x="5474146" y="1055546"/>
              <a:ext cx="1243705" cy="1204358"/>
            </a:xfrm>
            <a:prstGeom prst="ellipse">
              <a:avLst/>
            </a:prstGeom>
            <a:solidFill>
              <a:srgbClr val="CFD3E8"/>
            </a:solidFill>
            <a:ln w="57150">
              <a:solidFill>
                <a:schemeClr val="bg1"/>
              </a:solidFill>
              <a:round/>
            </a:ln>
          </p:spPr>
          <p:txBody>
            <a:bodyPr vert="horz" wrap="square" lIns="128580" tIns="64290" rIns="128580" bIns="64290" numCol="1" anchor="t" anchorCtr="0" compatLnSpc="1"/>
            <a:lstStyle/>
            <a:p>
              <a:endParaRPr lang="zh-CN" altLang="en-US">
                <a:solidFill>
                  <a:prstClr val="black"/>
                </a:solidFill>
                <a:cs typeface="+mn-ea"/>
                <a:sym typeface="+mn-lt"/>
              </a:endParaRPr>
            </a:p>
          </p:txBody>
        </p:sp>
        <p:grpSp>
          <p:nvGrpSpPr>
            <p:cNvPr id="2" name="组合 1"/>
            <p:cNvGrpSpPr/>
            <p:nvPr/>
          </p:nvGrpSpPr>
          <p:grpSpPr>
            <a:xfrm>
              <a:off x="5600206" y="1384823"/>
              <a:ext cx="1087893" cy="845662"/>
              <a:chOff x="5552848" y="1343115"/>
              <a:chExt cx="1138005" cy="884616"/>
            </a:xfrm>
          </p:grpSpPr>
          <p:sp>
            <p:nvSpPr>
              <p:cNvPr id="17" name="Freeform 6"/>
              <p:cNvSpPr/>
              <p:nvPr/>
            </p:nvSpPr>
            <p:spPr bwMode="auto">
              <a:xfrm>
                <a:off x="5558339" y="1489662"/>
                <a:ext cx="1132514" cy="738069"/>
              </a:xfrm>
              <a:custGeom>
                <a:avLst/>
                <a:gdLst>
                  <a:gd name="T0" fmla="*/ 346 w 346"/>
                  <a:gd name="T1" fmla="*/ 43 h 233"/>
                  <a:gd name="T2" fmla="*/ 156 w 346"/>
                  <a:gd name="T3" fmla="*/ 233 h 233"/>
                  <a:gd name="T4" fmla="*/ 128 w 346"/>
                  <a:gd name="T5" fmla="*/ 231 h 233"/>
                  <a:gd name="T6" fmla="*/ 24 w 346"/>
                  <a:gd name="T7" fmla="*/ 127 h 233"/>
                  <a:gd name="T8" fmla="*/ 22 w 346"/>
                  <a:gd name="T9" fmla="*/ 118 h 233"/>
                  <a:gd name="T10" fmla="*/ 32 w 346"/>
                  <a:gd name="T11" fmla="*/ 86 h 233"/>
                  <a:gd name="T12" fmla="*/ 22 w 346"/>
                  <a:gd name="T13" fmla="*/ 76 h 233"/>
                  <a:gd name="T14" fmla="*/ 32 w 346"/>
                  <a:gd name="T15" fmla="*/ 72 h 233"/>
                  <a:gd name="T16" fmla="*/ 33 w 346"/>
                  <a:gd name="T17" fmla="*/ 39 h 233"/>
                  <a:gd name="T18" fmla="*/ 0 w 346"/>
                  <a:gd name="T19" fmla="*/ 7 h 233"/>
                  <a:gd name="T20" fmla="*/ 312 w 346"/>
                  <a:gd name="T21" fmla="*/ 0 h 233"/>
                  <a:gd name="T22" fmla="*/ 346 w 346"/>
                  <a:gd name="T23" fmla="*/ 34 h 233"/>
                  <a:gd name="T24" fmla="*/ 346 w 346"/>
                  <a:gd name="T25" fmla="*/ 43 h 233"/>
                  <a:gd name="connsiteX0" fmla="*/ 10000 w 10000"/>
                  <a:gd name="connsiteY0" fmla="*/ 1845 h 10000"/>
                  <a:gd name="connsiteX1" fmla="*/ 4509 w 10000"/>
                  <a:gd name="connsiteY1" fmla="*/ 10000 h 10000"/>
                  <a:gd name="connsiteX2" fmla="*/ 3699 w 10000"/>
                  <a:gd name="connsiteY2" fmla="*/ 9914 h 10000"/>
                  <a:gd name="connsiteX3" fmla="*/ 694 w 10000"/>
                  <a:gd name="connsiteY3" fmla="*/ 5451 h 10000"/>
                  <a:gd name="connsiteX4" fmla="*/ 636 w 10000"/>
                  <a:gd name="connsiteY4" fmla="*/ 5064 h 10000"/>
                  <a:gd name="connsiteX5" fmla="*/ 925 w 10000"/>
                  <a:gd name="connsiteY5" fmla="*/ 3691 h 10000"/>
                  <a:gd name="connsiteX6" fmla="*/ 636 w 10000"/>
                  <a:gd name="connsiteY6" fmla="*/ 3262 h 10000"/>
                  <a:gd name="connsiteX7" fmla="*/ 925 w 10000"/>
                  <a:gd name="connsiteY7" fmla="*/ 3090 h 10000"/>
                  <a:gd name="connsiteX8" fmla="*/ 954 w 10000"/>
                  <a:gd name="connsiteY8" fmla="*/ 1674 h 10000"/>
                  <a:gd name="connsiteX9" fmla="*/ 0 w 10000"/>
                  <a:gd name="connsiteY9" fmla="*/ 300 h 10000"/>
                  <a:gd name="connsiteX10" fmla="*/ 9017 w 10000"/>
                  <a:gd name="connsiteY10" fmla="*/ 0 h 10000"/>
                  <a:gd name="connsiteX11" fmla="*/ 10000 w 10000"/>
                  <a:gd name="connsiteY11" fmla="*/ 1459 h 10000"/>
                  <a:gd name="connsiteX12" fmla="*/ 10000 w 10000"/>
                  <a:gd name="connsiteY12" fmla="*/ 1845 h 10000"/>
                  <a:gd name="connsiteX0-1" fmla="*/ 10000 w 10000"/>
                  <a:gd name="connsiteY0-2" fmla="*/ 1845 h 10000"/>
                  <a:gd name="connsiteX1-3" fmla="*/ 4509 w 10000"/>
                  <a:gd name="connsiteY1-4" fmla="*/ 10000 h 10000"/>
                  <a:gd name="connsiteX2-5" fmla="*/ 3699 w 10000"/>
                  <a:gd name="connsiteY2-6" fmla="*/ 9914 h 10000"/>
                  <a:gd name="connsiteX3-7" fmla="*/ 694 w 10000"/>
                  <a:gd name="connsiteY3-8" fmla="*/ 5451 h 10000"/>
                  <a:gd name="connsiteX4-9" fmla="*/ 636 w 10000"/>
                  <a:gd name="connsiteY4-10" fmla="*/ 5064 h 10000"/>
                  <a:gd name="connsiteX5-11" fmla="*/ 925 w 10000"/>
                  <a:gd name="connsiteY5-12" fmla="*/ 3691 h 10000"/>
                  <a:gd name="connsiteX6-13" fmla="*/ 636 w 10000"/>
                  <a:gd name="connsiteY6-14" fmla="*/ 3262 h 10000"/>
                  <a:gd name="connsiteX7-15" fmla="*/ 925 w 10000"/>
                  <a:gd name="connsiteY7-16" fmla="*/ 3090 h 10000"/>
                  <a:gd name="connsiteX8-17" fmla="*/ 954 w 10000"/>
                  <a:gd name="connsiteY8-18" fmla="*/ 1674 h 10000"/>
                  <a:gd name="connsiteX9-19" fmla="*/ 0 w 10000"/>
                  <a:gd name="connsiteY9-20" fmla="*/ 300 h 10000"/>
                  <a:gd name="connsiteX10-21" fmla="*/ 9017 w 10000"/>
                  <a:gd name="connsiteY10-22" fmla="*/ 0 h 10000"/>
                  <a:gd name="connsiteX11-23" fmla="*/ 10000 w 10000"/>
                  <a:gd name="connsiteY11-24" fmla="*/ 1459 h 10000"/>
                  <a:gd name="connsiteX12-25" fmla="*/ 10000 w 10000"/>
                  <a:gd name="connsiteY12-26" fmla="*/ 1845 h 100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0000" h="10000">
                    <a:moveTo>
                      <a:pt x="10000" y="1845"/>
                    </a:moveTo>
                    <a:cubicBezTo>
                      <a:pt x="10000" y="6352"/>
                      <a:pt x="7693" y="10066"/>
                      <a:pt x="4509" y="10000"/>
                    </a:cubicBezTo>
                    <a:cubicBezTo>
                      <a:pt x="4220" y="9994"/>
                      <a:pt x="3960" y="10000"/>
                      <a:pt x="3699" y="9914"/>
                    </a:cubicBezTo>
                    <a:lnTo>
                      <a:pt x="694" y="5451"/>
                    </a:lnTo>
                    <a:cubicBezTo>
                      <a:pt x="675" y="5322"/>
                      <a:pt x="655" y="5193"/>
                      <a:pt x="636" y="5064"/>
                    </a:cubicBezTo>
                    <a:cubicBezTo>
                      <a:pt x="732" y="4606"/>
                      <a:pt x="829" y="4149"/>
                      <a:pt x="925" y="3691"/>
                    </a:cubicBezTo>
                    <a:lnTo>
                      <a:pt x="636" y="3262"/>
                    </a:lnTo>
                    <a:lnTo>
                      <a:pt x="925" y="3090"/>
                    </a:lnTo>
                    <a:cubicBezTo>
                      <a:pt x="935" y="2618"/>
                      <a:pt x="944" y="2146"/>
                      <a:pt x="954" y="1674"/>
                    </a:cubicBezTo>
                    <a:lnTo>
                      <a:pt x="0" y="300"/>
                    </a:lnTo>
                    <a:lnTo>
                      <a:pt x="9017" y="0"/>
                    </a:lnTo>
                    <a:lnTo>
                      <a:pt x="10000" y="1459"/>
                    </a:lnTo>
                    <a:lnTo>
                      <a:pt x="10000" y="1845"/>
                    </a:lnTo>
                    <a:close/>
                  </a:path>
                </a:pathLst>
              </a:custGeom>
              <a:solidFill>
                <a:srgbClr val="A7AFD5"/>
              </a:solidFill>
              <a:ln>
                <a:noFill/>
              </a:ln>
              <a:extLst>
                <a:ext uri="{91240B29-F687-4F45-9708-019B960494DF}">
                  <a14:hiddenLine xmlns:a14="http://schemas.microsoft.com/office/drawing/2010/main" w="9525">
                    <a:solidFill>
                      <a:srgbClr val="000000"/>
                    </a:solidFill>
                    <a:round/>
                  </a14:hiddenLine>
                </a:ext>
              </a:extLst>
            </p:spPr>
            <p:txBody>
              <a:bodyPr vert="horz" wrap="square" lIns="128580" tIns="64290" rIns="128580" bIns="64290" numCol="1" anchor="t" anchorCtr="0" compatLnSpc="1"/>
              <a:lstStyle/>
              <a:p>
                <a:endParaRPr lang="zh-CN" altLang="en-US">
                  <a:solidFill>
                    <a:prstClr val="black"/>
                  </a:solidFill>
                  <a:cs typeface="+mn-ea"/>
                  <a:sym typeface="+mn-lt"/>
                </a:endParaRPr>
              </a:p>
            </p:txBody>
          </p:sp>
          <p:sp>
            <p:nvSpPr>
              <p:cNvPr id="18" name="Freeform 7"/>
              <p:cNvSpPr>
                <a:spLocks noEditPoints="1"/>
              </p:cNvSpPr>
              <p:nvPr/>
            </p:nvSpPr>
            <p:spPr bwMode="auto">
              <a:xfrm>
                <a:off x="5552848" y="1343115"/>
                <a:ext cx="1033676" cy="567542"/>
              </a:xfrm>
              <a:custGeom>
                <a:avLst/>
                <a:gdLst>
                  <a:gd name="T0" fmla="*/ 72 w 316"/>
                  <a:gd name="T1" fmla="*/ 96 h 179"/>
                  <a:gd name="T2" fmla="*/ 72 w 316"/>
                  <a:gd name="T3" fmla="*/ 133 h 179"/>
                  <a:gd name="T4" fmla="*/ 244 w 316"/>
                  <a:gd name="T5" fmla="*/ 133 h 179"/>
                  <a:gd name="T6" fmla="*/ 244 w 316"/>
                  <a:gd name="T7" fmla="*/ 96 h 179"/>
                  <a:gd name="T8" fmla="*/ 237 w 316"/>
                  <a:gd name="T9" fmla="*/ 91 h 179"/>
                  <a:gd name="T10" fmla="*/ 163 w 316"/>
                  <a:gd name="T11" fmla="*/ 122 h 179"/>
                  <a:gd name="T12" fmla="*/ 153 w 316"/>
                  <a:gd name="T13" fmla="*/ 122 h 179"/>
                  <a:gd name="T14" fmla="*/ 80 w 316"/>
                  <a:gd name="T15" fmla="*/ 91 h 179"/>
                  <a:gd name="T16" fmla="*/ 72 w 316"/>
                  <a:gd name="T17" fmla="*/ 96 h 179"/>
                  <a:gd name="T18" fmla="*/ 39 w 316"/>
                  <a:gd name="T19" fmla="*/ 73 h 179"/>
                  <a:gd name="T20" fmla="*/ 39 w 316"/>
                  <a:gd name="T21" fmla="*/ 106 h 179"/>
                  <a:gd name="T22" fmla="*/ 39 w 316"/>
                  <a:gd name="T23" fmla="*/ 107 h 179"/>
                  <a:gd name="T24" fmla="*/ 41 w 316"/>
                  <a:gd name="T25" fmla="*/ 107 h 179"/>
                  <a:gd name="T26" fmla="*/ 45 w 316"/>
                  <a:gd name="T27" fmla="*/ 112 h 179"/>
                  <a:gd name="T28" fmla="*/ 44 w 316"/>
                  <a:gd name="T29" fmla="*/ 119 h 179"/>
                  <a:gd name="T30" fmla="*/ 44 w 316"/>
                  <a:gd name="T31" fmla="*/ 119 h 179"/>
                  <a:gd name="T32" fmla="*/ 44 w 316"/>
                  <a:gd name="T33" fmla="*/ 123 h 179"/>
                  <a:gd name="T34" fmla="*/ 44 w 316"/>
                  <a:gd name="T35" fmla="*/ 124 h 179"/>
                  <a:gd name="T36" fmla="*/ 42 w 316"/>
                  <a:gd name="T37" fmla="*/ 174 h 179"/>
                  <a:gd name="T38" fmla="*/ 41 w 316"/>
                  <a:gd name="T39" fmla="*/ 174 h 179"/>
                  <a:gd name="T40" fmla="*/ 42 w 316"/>
                  <a:gd name="T41" fmla="*/ 169 h 179"/>
                  <a:gd name="T42" fmla="*/ 40 w 316"/>
                  <a:gd name="T43" fmla="*/ 169 h 179"/>
                  <a:gd name="T44" fmla="*/ 35 w 316"/>
                  <a:gd name="T45" fmla="*/ 179 h 179"/>
                  <a:gd name="T46" fmla="*/ 34 w 316"/>
                  <a:gd name="T47" fmla="*/ 178 h 179"/>
                  <a:gd name="T48" fmla="*/ 33 w 316"/>
                  <a:gd name="T49" fmla="*/ 168 h 179"/>
                  <a:gd name="T50" fmla="*/ 31 w 316"/>
                  <a:gd name="T51" fmla="*/ 166 h 179"/>
                  <a:gd name="T52" fmla="*/ 31 w 316"/>
                  <a:gd name="T53" fmla="*/ 172 h 179"/>
                  <a:gd name="T54" fmla="*/ 30 w 316"/>
                  <a:gd name="T55" fmla="*/ 172 h 179"/>
                  <a:gd name="T56" fmla="*/ 29 w 316"/>
                  <a:gd name="T57" fmla="*/ 168 h 179"/>
                  <a:gd name="T58" fmla="*/ 28 w 316"/>
                  <a:gd name="T59" fmla="*/ 169 h 179"/>
                  <a:gd name="T60" fmla="*/ 28 w 316"/>
                  <a:gd name="T61" fmla="*/ 174 h 179"/>
                  <a:gd name="T62" fmla="*/ 27 w 316"/>
                  <a:gd name="T63" fmla="*/ 175 h 179"/>
                  <a:gd name="T64" fmla="*/ 26 w 316"/>
                  <a:gd name="T65" fmla="*/ 123 h 179"/>
                  <a:gd name="T66" fmla="*/ 26 w 316"/>
                  <a:gd name="T67" fmla="*/ 122 h 179"/>
                  <a:gd name="T68" fmla="*/ 26 w 316"/>
                  <a:gd name="T69" fmla="*/ 118 h 179"/>
                  <a:gd name="T70" fmla="*/ 26 w 316"/>
                  <a:gd name="T71" fmla="*/ 118 h 179"/>
                  <a:gd name="T72" fmla="*/ 25 w 316"/>
                  <a:gd name="T73" fmla="*/ 112 h 179"/>
                  <a:gd name="T74" fmla="*/ 30 w 316"/>
                  <a:gd name="T75" fmla="*/ 105 h 179"/>
                  <a:gd name="T76" fmla="*/ 32 w 316"/>
                  <a:gd name="T77" fmla="*/ 105 h 179"/>
                  <a:gd name="T78" fmla="*/ 32 w 316"/>
                  <a:gd name="T79" fmla="*/ 104 h 179"/>
                  <a:gd name="T80" fmla="*/ 32 w 316"/>
                  <a:gd name="T81" fmla="*/ 68 h 179"/>
                  <a:gd name="T82" fmla="*/ 30 w 316"/>
                  <a:gd name="T83" fmla="*/ 65 h 179"/>
                  <a:gd name="T84" fmla="*/ 4 w 316"/>
                  <a:gd name="T85" fmla="*/ 54 h 179"/>
                  <a:gd name="T86" fmla="*/ 4 w 316"/>
                  <a:gd name="T87" fmla="*/ 45 h 179"/>
                  <a:gd name="T88" fmla="*/ 154 w 316"/>
                  <a:gd name="T89" fmla="*/ 0 h 179"/>
                  <a:gd name="T90" fmla="*/ 162 w 316"/>
                  <a:gd name="T91" fmla="*/ 0 h 179"/>
                  <a:gd name="T92" fmla="*/ 311 w 316"/>
                  <a:gd name="T93" fmla="*/ 45 h 179"/>
                  <a:gd name="T94" fmla="*/ 312 w 316"/>
                  <a:gd name="T95" fmla="*/ 54 h 179"/>
                  <a:gd name="T96" fmla="*/ 163 w 316"/>
                  <a:gd name="T97" fmla="*/ 116 h 179"/>
                  <a:gd name="T98" fmla="*/ 153 w 316"/>
                  <a:gd name="T99" fmla="*/ 116 h 179"/>
                  <a:gd name="T100" fmla="*/ 43 w 316"/>
                  <a:gd name="T101" fmla="*/ 70 h 179"/>
                  <a:gd name="T102" fmla="*/ 39 w 316"/>
                  <a:gd name="T103" fmla="*/ 73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16" h="179">
                    <a:moveTo>
                      <a:pt x="72" y="96"/>
                    </a:moveTo>
                    <a:cubicBezTo>
                      <a:pt x="72" y="133"/>
                      <a:pt x="72" y="133"/>
                      <a:pt x="72" y="133"/>
                    </a:cubicBezTo>
                    <a:cubicBezTo>
                      <a:pt x="72" y="177"/>
                      <a:pt x="244" y="177"/>
                      <a:pt x="244" y="133"/>
                    </a:cubicBezTo>
                    <a:cubicBezTo>
                      <a:pt x="244" y="96"/>
                      <a:pt x="244" y="96"/>
                      <a:pt x="244" y="96"/>
                    </a:cubicBezTo>
                    <a:cubicBezTo>
                      <a:pt x="244" y="92"/>
                      <a:pt x="240" y="89"/>
                      <a:pt x="237" y="91"/>
                    </a:cubicBezTo>
                    <a:cubicBezTo>
                      <a:pt x="163" y="122"/>
                      <a:pt x="163" y="122"/>
                      <a:pt x="163" y="122"/>
                    </a:cubicBezTo>
                    <a:cubicBezTo>
                      <a:pt x="160" y="123"/>
                      <a:pt x="156" y="123"/>
                      <a:pt x="153" y="122"/>
                    </a:cubicBezTo>
                    <a:cubicBezTo>
                      <a:pt x="80" y="91"/>
                      <a:pt x="80" y="91"/>
                      <a:pt x="80" y="91"/>
                    </a:cubicBezTo>
                    <a:cubicBezTo>
                      <a:pt x="76" y="89"/>
                      <a:pt x="72" y="92"/>
                      <a:pt x="72" y="96"/>
                    </a:cubicBezTo>
                    <a:close/>
                    <a:moveTo>
                      <a:pt x="39" y="73"/>
                    </a:moveTo>
                    <a:cubicBezTo>
                      <a:pt x="39" y="106"/>
                      <a:pt x="39" y="106"/>
                      <a:pt x="39" y="106"/>
                    </a:cubicBezTo>
                    <a:cubicBezTo>
                      <a:pt x="39" y="106"/>
                      <a:pt x="39" y="106"/>
                      <a:pt x="39" y="107"/>
                    </a:cubicBezTo>
                    <a:cubicBezTo>
                      <a:pt x="40" y="107"/>
                      <a:pt x="40" y="107"/>
                      <a:pt x="41" y="107"/>
                    </a:cubicBezTo>
                    <a:cubicBezTo>
                      <a:pt x="45" y="105"/>
                      <a:pt x="45" y="109"/>
                      <a:pt x="45" y="112"/>
                    </a:cubicBezTo>
                    <a:cubicBezTo>
                      <a:pt x="45" y="114"/>
                      <a:pt x="45" y="117"/>
                      <a:pt x="44" y="119"/>
                    </a:cubicBezTo>
                    <a:cubicBezTo>
                      <a:pt x="44" y="119"/>
                      <a:pt x="44" y="119"/>
                      <a:pt x="44" y="119"/>
                    </a:cubicBezTo>
                    <a:cubicBezTo>
                      <a:pt x="46" y="120"/>
                      <a:pt x="46" y="123"/>
                      <a:pt x="44" y="123"/>
                    </a:cubicBezTo>
                    <a:cubicBezTo>
                      <a:pt x="44" y="123"/>
                      <a:pt x="44" y="124"/>
                      <a:pt x="44" y="124"/>
                    </a:cubicBezTo>
                    <a:cubicBezTo>
                      <a:pt x="53" y="139"/>
                      <a:pt x="57" y="161"/>
                      <a:pt x="42" y="174"/>
                    </a:cubicBezTo>
                    <a:cubicBezTo>
                      <a:pt x="41" y="175"/>
                      <a:pt x="41" y="175"/>
                      <a:pt x="41" y="174"/>
                    </a:cubicBezTo>
                    <a:cubicBezTo>
                      <a:pt x="41" y="172"/>
                      <a:pt x="42" y="171"/>
                      <a:pt x="42" y="169"/>
                    </a:cubicBezTo>
                    <a:cubicBezTo>
                      <a:pt x="43" y="163"/>
                      <a:pt x="42" y="163"/>
                      <a:pt x="40" y="169"/>
                    </a:cubicBezTo>
                    <a:cubicBezTo>
                      <a:pt x="39" y="173"/>
                      <a:pt x="37" y="176"/>
                      <a:pt x="35" y="179"/>
                    </a:cubicBezTo>
                    <a:cubicBezTo>
                      <a:pt x="35" y="179"/>
                      <a:pt x="34" y="179"/>
                      <a:pt x="34" y="178"/>
                    </a:cubicBezTo>
                    <a:cubicBezTo>
                      <a:pt x="34" y="175"/>
                      <a:pt x="34" y="172"/>
                      <a:pt x="33" y="168"/>
                    </a:cubicBezTo>
                    <a:cubicBezTo>
                      <a:pt x="33" y="161"/>
                      <a:pt x="32" y="160"/>
                      <a:pt x="31" y="166"/>
                    </a:cubicBezTo>
                    <a:cubicBezTo>
                      <a:pt x="31" y="168"/>
                      <a:pt x="31" y="170"/>
                      <a:pt x="31" y="172"/>
                    </a:cubicBezTo>
                    <a:cubicBezTo>
                      <a:pt x="31" y="173"/>
                      <a:pt x="31" y="174"/>
                      <a:pt x="30" y="172"/>
                    </a:cubicBezTo>
                    <a:cubicBezTo>
                      <a:pt x="30" y="171"/>
                      <a:pt x="30" y="170"/>
                      <a:pt x="29" y="168"/>
                    </a:cubicBezTo>
                    <a:cubicBezTo>
                      <a:pt x="28" y="165"/>
                      <a:pt x="28" y="165"/>
                      <a:pt x="28" y="169"/>
                    </a:cubicBezTo>
                    <a:cubicBezTo>
                      <a:pt x="28" y="171"/>
                      <a:pt x="28" y="172"/>
                      <a:pt x="28" y="174"/>
                    </a:cubicBezTo>
                    <a:cubicBezTo>
                      <a:pt x="28" y="175"/>
                      <a:pt x="28" y="175"/>
                      <a:pt x="27" y="175"/>
                    </a:cubicBezTo>
                    <a:cubicBezTo>
                      <a:pt x="13" y="162"/>
                      <a:pt x="13" y="142"/>
                      <a:pt x="26" y="123"/>
                    </a:cubicBezTo>
                    <a:cubicBezTo>
                      <a:pt x="26" y="123"/>
                      <a:pt x="26" y="123"/>
                      <a:pt x="26" y="122"/>
                    </a:cubicBezTo>
                    <a:cubicBezTo>
                      <a:pt x="23" y="122"/>
                      <a:pt x="23" y="119"/>
                      <a:pt x="26" y="118"/>
                    </a:cubicBezTo>
                    <a:cubicBezTo>
                      <a:pt x="26" y="118"/>
                      <a:pt x="26" y="118"/>
                      <a:pt x="26" y="118"/>
                    </a:cubicBezTo>
                    <a:cubicBezTo>
                      <a:pt x="26" y="116"/>
                      <a:pt x="25" y="114"/>
                      <a:pt x="25" y="112"/>
                    </a:cubicBezTo>
                    <a:cubicBezTo>
                      <a:pt x="25" y="110"/>
                      <a:pt x="27" y="104"/>
                      <a:pt x="30" y="105"/>
                    </a:cubicBezTo>
                    <a:cubicBezTo>
                      <a:pt x="31" y="106"/>
                      <a:pt x="31" y="106"/>
                      <a:pt x="32" y="105"/>
                    </a:cubicBezTo>
                    <a:cubicBezTo>
                      <a:pt x="32" y="105"/>
                      <a:pt x="32" y="105"/>
                      <a:pt x="32" y="104"/>
                    </a:cubicBezTo>
                    <a:cubicBezTo>
                      <a:pt x="32" y="68"/>
                      <a:pt x="32" y="68"/>
                      <a:pt x="32" y="68"/>
                    </a:cubicBezTo>
                    <a:cubicBezTo>
                      <a:pt x="32" y="67"/>
                      <a:pt x="32" y="65"/>
                      <a:pt x="30" y="65"/>
                    </a:cubicBezTo>
                    <a:cubicBezTo>
                      <a:pt x="4" y="54"/>
                      <a:pt x="4" y="54"/>
                      <a:pt x="4" y="54"/>
                    </a:cubicBezTo>
                    <a:cubicBezTo>
                      <a:pt x="0" y="52"/>
                      <a:pt x="0" y="46"/>
                      <a:pt x="4" y="45"/>
                    </a:cubicBezTo>
                    <a:cubicBezTo>
                      <a:pt x="154" y="0"/>
                      <a:pt x="154" y="0"/>
                      <a:pt x="154" y="0"/>
                    </a:cubicBezTo>
                    <a:cubicBezTo>
                      <a:pt x="157" y="0"/>
                      <a:pt x="159" y="0"/>
                      <a:pt x="162" y="0"/>
                    </a:cubicBezTo>
                    <a:cubicBezTo>
                      <a:pt x="311" y="45"/>
                      <a:pt x="311" y="45"/>
                      <a:pt x="311" y="45"/>
                    </a:cubicBezTo>
                    <a:cubicBezTo>
                      <a:pt x="316" y="46"/>
                      <a:pt x="316" y="52"/>
                      <a:pt x="312" y="54"/>
                    </a:cubicBezTo>
                    <a:cubicBezTo>
                      <a:pt x="163" y="116"/>
                      <a:pt x="163" y="116"/>
                      <a:pt x="163" y="116"/>
                    </a:cubicBezTo>
                    <a:cubicBezTo>
                      <a:pt x="160" y="118"/>
                      <a:pt x="156" y="118"/>
                      <a:pt x="153" y="116"/>
                    </a:cubicBezTo>
                    <a:cubicBezTo>
                      <a:pt x="43" y="70"/>
                      <a:pt x="43" y="70"/>
                      <a:pt x="43" y="70"/>
                    </a:cubicBezTo>
                    <a:cubicBezTo>
                      <a:pt x="41" y="69"/>
                      <a:pt x="39" y="71"/>
                      <a:pt x="39" y="73"/>
                    </a:cubicBezTo>
                    <a:close/>
                  </a:path>
                </a:pathLst>
              </a:custGeom>
              <a:solidFill>
                <a:srgbClr val="3B397A"/>
              </a:solidFill>
              <a:ln w="9525">
                <a:solidFill>
                  <a:schemeClr val="bg1"/>
                </a:solidFill>
                <a:round/>
              </a:ln>
            </p:spPr>
            <p:style>
              <a:lnRef idx="2">
                <a:schemeClr val="dk1"/>
              </a:lnRef>
              <a:fillRef idx="1">
                <a:schemeClr val="lt1"/>
              </a:fillRef>
              <a:effectRef idx="0">
                <a:schemeClr val="dk1"/>
              </a:effectRef>
              <a:fontRef idx="minor">
                <a:schemeClr val="dk1"/>
              </a:fontRef>
            </p:style>
            <p:txBody>
              <a:bodyPr vert="horz" wrap="square" lIns="128580" tIns="64290" rIns="128580" bIns="64290" numCol="1" anchor="t" anchorCtr="0" compatLnSpc="1"/>
              <a:lstStyle/>
              <a:p>
                <a:endParaRPr lang="zh-CN" altLang="en-US">
                  <a:solidFill>
                    <a:prstClr val="black"/>
                  </a:solidFill>
                  <a:cs typeface="+mn-ea"/>
                  <a:sym typeface="+mn-lt"/>
                </a:endParaRPr>
              </a:p>
            </p:txBody>
          </p:sp>
        </p:grpSp>
      </p:grpSp>
      <p:grpSp>
        <p:nvGrpSpPr>
          <p:cNvPr id="73" name="组合 72"/>
          <p:cNvGrpSpPr/>
          <p:nvPr/>
        </p:nvGrpSpPr>
        <p:grpSpPr>
          <a:xfrm>
            <a:off x="4709197" y="6092842"/>
            <a:ext cx="2773363" cy="455612"/>
            <a:chOff x="4702175" y="4743823"/>
            <a:chExt cx="2773363" cy="455612"/>
          </a:xfrm>
        </p:grpSpPr>
        <p:sp>
          <p:nvSpPr>
            <p:cNvPr id="74" name="Freeform 423"/>
            <p:cNvSpPr/>
            <p:nvPr/>
          </p:nvSpPr>
          <p:spPr bwMode="auto">
            <a:xfrm>
              <a:off x="5310188" y="4816848"/>
              <a:ext cx="323850" cy="309562"/>
            </a:xfrm>
            <a:custGeom>
              <a:avLst/>
              <a:gdLst>
                <a:gd name="T0" fmla="*/ 102 w 204"/>
                <a:gd name="T1" fmla="*/ 0 h 195"/>
                <a:gd name="T2" fmla="*/ 130 w 204"/>
                <a:gd name="T3" fmla="*/ 74 h 195"/>
                <a:gd name="T4" fmla="*/ 204 w 204"/>
                <a:gd name="T5" fmla="*/ 74 h 195"/>
                <a:gd name="T6" fmla="*/ 144 w 204"/>
                <a:gd name="T7" fmla="*/ 120 h 195"/>
                <a:gd name="T8" fmla="*/ 167 w 204"/>
                <a:gd name="T9" fmla="*/ 195 h 195"/>
                <a:gd name="T10" fmla="*/ 102 w 204"/>
                <a:gd name="T11" fmla="*/ 148 h 195"/>
                <a:gd name="T12" fmla="*/ 42 w 204"/>
                <a:gd name="T13" fmla="*/ 195 h 195"/>
                <a:gd name="T14" fmla="*/ 65 w 204"/>
                <a:gd name="T15" fmla="*/ 120 h 195"/>
                <a:gd name="T16" fmla="*/ 0 w 204"/>
                <a:gd name="T17" fmla="*/ 74 h 195"/>
                <a:gd name="T18" fmla="*/ 79 w 204"/>
                <a:gd name="T19" fmla="*/ 74 h 195"/>
                <a:gd name="T20" fmla="*/ 102 w 204"/>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4" h="195">
                  <a:moveTo>
                    <a:pt x="102" y="0"/>
                  </a:moveTo>
                  <a:lnTo>
                    <a:pt x="130" y="74"/>
                  </a:lnTo>
                  <a:lnTo>
                    <a:pt x="204" y="74"/>
                  </a:lnTo>
                  <a:lnTo>
                    <a:pt x="144" y="120"/>
                  </a:lnTo>
                  <a:lnTo>
                    <a:pt x="167" y="195"/>
                  </a:lnTo>
                  <a:lnTo>
                    <a:pt x="102" y="148"/>
                  </a:lnTo>
                  <a:lnTo>
                    <a:pt x="42" y="195"/>
                  </a:lnTo>
                  <a:lnTo>
                    <a:pt x="65" y="120"/>
                  </a:lnTo>
                  <a:lnTo>
                    <a:pt x="0" y="74"/>
                  </a:lnTo>
                  <a:lnTo>
                    <a:pt x="79" y="74"/>
                  </a:lnTo>
                  <a:lnTo>
                    <a:pt x="10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5" name="Freeform 424"/>
            <p:cNvSpPr/>
            <p:nvPr/>
          </p:nvSpPr>
          <p:spPr bwMode="auto">
            <a:xfrm>
              <a:off x="5846763" y="4743823"/>
              <a:ext cx="484188" cy="455612"/>
            </a:xfrm>
            <a:custGeom>
              <a:avLst/>
              <a:gdLst>
                <a:gd name="T0" fmla="*/ 152 w 305"/>
                <a:gd name="T1" fmla="*/ 0 h 287"/>
                <a:gd name="T2" fmla="*/ 189 w 305"/>
                <a:gd name="T3" fmla="*/ 111 h 287"/>
                <a:gd name="T4" fmla="*/ 305 w 305"/>
                <a:gd name="T5" fmla="*/ 111 h 287"/>
                <a:gd name="T6" fmla="*/ 208 w 305"/>
                <a:gd name="T7" fmla="*/ 176 h 287"/>
                <a:gd name="T8" fmla="*/ 245 w 305"/>
                <a:gd name="T9" fmla="*/ 287 h 287"/>
                <a:gd name="T10" fmla="*/ 152 w 305"/>
                <a:gd name="T11" fmla="*/ 217 h 287"/>
                <a:gd name="T12" fmla="*/ 60 w 305"/>
                <a:gd name="T13" fmla="*/ 287 h 287"/>
                <a:gd name="T14" fmla="*/ 97 w 305"/>
                <a:gd name="T15" fmla="*/ 176 h 287"/>
                <a:gd name="T16" fmla="*/ 0 w 305"/>
                <a:gd name="T17" fmla="*/ 111 h 287"/>
                <a:gd name="T18" fmla="*/ 115 w 305"/>
                <a:gd name="T19" fmla="*/ 111 h 287"/>
                <a:gd name="T20" fmla="*/ 152 w 305"/>
                <a:gd name="T21"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5" h="287">
                  <a:moveTo>
                    <a:pt x="152" y="0"/>
                  </a:moveTo>
                  <a:lnTo>
                    <a:pt x="189" y="111"/>
                  </a:lnTo>
                  <a:lnTo>
                    <a:pt x="305" y="111"/>
                  </a:lnTo>
                  <a:lnTo>
                    <a:pt x="208" y="176"/>
                  </a:lnTo>
                  <a:lnTo>
                    <a:pt x="245" y="287"/>
                  </a:lnTo>
                  <a:lnTo>
                    <a:pt x="152" y="217"/>
                  </a:lnTo>
                  <a:lnTo>
                    <a:pt x="60" y="287"/>
                  </a:lnTo>
                  <a:lnTo>
                    <a:pt x="97" y="176"/>
                  </a:lnTo>
                  <a:lnTo>
                    <a:pt x="0" y="111"/>
                  </a:lnTo>
                  <a:lnTo>
                    <a:pt x="115" y="111"/>
                  </a:lnTo>
                  <a:lnTo>
                    <a:pt x="15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6" name="Freeform 425"/>
            <p:cNvSpPr/>
            <p:nvPr/>
          </p:nvSpPr>
          <p:spPr bwMode="auto">
            <a:xfrm>
              <a:off x="6543675" y="4816848"/>
              <a:ext cx="322263" cy="309562"/>
            </a:xfrm>
            <a:custGeom>
              <a:avLst/>
              <a:gdLst>
                <a:gd name="T0" fmla="*/ 101 w 203"/>
                <a:gd name="T1" fmla="*/ 0 h 195"/>
                <a:gd name="T2" fmla="*/ 125 w 203"/>
                <a:gd name="T3" fmla="*/ 74 h 195"/>
                <a:gd name="T4" fmla="*/ 203 w 203"/>
                <a:gd name="T5" fmla="*/ 74 h 195"/>
                <a:gd name="T6" fmla="*/ 138 w 203"/>
                <a:gd name="T7" fmla="*/ 120 h 195"/>
                <a:gd name="T8" fmla="*/ 162 w 203"/>
                <a:gd name="T9" fmla="*/ 195 h 195"/>
                <a:gd name="T10" fmla="*/ 101 w 203"/>
                <a:gd name="T11" fmla="*/ 148 h 195"/>
                <a:gd name="T12" fmla="*/ 37 w 203"/>
                <a:gd name="T13" fmla="*/ 195 h 195"/>
                <a:gd name="T14" fmla="*/ 60 w 203"/>
                <a:gd name="T15" fmla="*/ 120 h 195"/>
                <a:gd name="T16" fmla="*/ 0 w 203"/>
                <a:gd name="T17" fmla="*/ 74 h 195"/>
                <a:gd name="T18" fmla="*/ 74 w 203"/>
                <a:gd name="T19" fmla="*/ 74 h 195"/>
                <a:gd name="T20" fmla="*/ 101 w 203"/>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3" h="195">
                  <a:moveTo>
                    <a:pt x="101" y="0"/>
                  </a:moveTo>
                  <a:lnTo>
                    <a:pt x="125" y="74"/>
                  </a:lnTo>
                  <a:lnTo>
                    <a:pt x="203" y="74"/>
                  </a:lnTo>
                  <a:lnTo>
                    <a:pt x="138" y="120"/>
                  </a:lnTo>
                  <a:lnTo>
                    <a:pt x="162" y="195"/>
                  </a:lnTo>
                  <a:lnTo>
                    <a:pt x="101" y="148"/>
                  </a:lnTo>
                  <a:lnTo>
                    <a:pt x="37" y="195"/>
                  </a:lnTo>
                  <a:lnTo>
                    <a:pt x="60" y="120"/>
                  </a:lnTo>
                  <a:lnTo>
                    <a:pt x="0" y="74"/>
                  </a:lnTo>
                  <a:lnTo>
                    <a:pt x="74" y="74"/>
                  </a:lnTo>
                  <a:lnTo>
                    <a:pt x="101"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7" name="Freeform 426"/>
            <p:cNvSpPr/>
            <p:nvPr/>
          </p:nvSpPr>
          <p:spPr bwMode="auto">
            <a:xfrm>
              <a:off x="7151688" y="4816848"/>
              <a:ext cx="323850" cy="309562"/>
            </a:xfrm>
            <a:custGeom>
              <a:avLst/>
              <a:gdLst>
                <a:gd name="T0" fmla="*/ 102 w 204"/>
                <a:gd name="T1" fmla="*/ 0 h 195"/>
                <a:gd name="T2" fmla="*/ 130 w 204"/>
                <a:gd name="T3" fmla="*/ 74 h 195"/>
                <a:gd name="T4" fmla="*/ 204 w 204"/>
                <a:gd name="T5" fmla="*/ 74 h 195"/>
                <a:gd name="T6" fmla="*/ 144 w 204"/>
                <a:gd name="T7" fmla="*/ 120 h 195"/>
                <a:gd name="T8" fmla="*/ 167 w 204"/>
                <a:gd name="T9" fmla="*/ 195 h 195"/>
                <a:gd name="T10" fmla="*/ 102 w 204"/>
                <a:gd name="T11" fmla="*/ 148 h 195"/>
                <a:gd name="T12" fmla="*/ 42 w 204"/>
                <a:gd name="T13" fmla="*/ 195 h 195"/>
                <a:gd name="T14" fmla="*/ 65 w 204"/>
                <a:gd name="T15" fmla="*/ 120 h 195"/>
                <a:gd name="T16" fmla="*/ 0 w 204"/>
                <a:gd name="T17" fmla="*/ 74 h 195"/>
                <a:gd name="T18" fmla="*/ 79 w 204"/>
                <a:gd name="T19" fmla="*/ 74 h 195"/>
                <a:gd name="T20" fmla="*/ 102 w 204"/>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4" h="195">
                  <a:moveTo>
                    <a:pt x="102" y="0"/>
                  </a:moveTo>
                  <a:lnTo>
                    <a:pt x="130" y="74"/>
                  </a:lnTo>
                  <a:lnTo>
                    <a:pt x="204" y="74"/>
                  </a:lnTo>
                  <a:lnTo>
                    <a:pt x="144" y="120"/>
                  </a:lnTo>
                  <a:lnTo>
                    <a:pt x="167" y="195"/>
                  </a:lnTo>
                  <a:lnTo>
                    <a:pt x="102" y="148"/>
                  </a:lnTo>
                  <a:lnTo>
                    <a:pt x="42" y="195"/>
                  </a:lnTo>
                  <a:lnTo>
                    <a:pt x="65" y="120"/>
                  </a:lnTo>
                  <a:lnTo>
                    <a:pt x="0" y="74"/>
                  </a:lnTo>
                  <a:lnTo>
                    <a:pt x="79" y="74"/>
                  </a:lnTo>
                  <a:lnTo>
                    <a:pt x="10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sp>
          <p:nvSpPr>
            <p:cNvPr id="78" name="Freeform 427"/>
            <p:cNvSpPr/>
            <p:nvPr/>
          </p:nvSpPr>
          <p:spPr bwMode="auto">
            <a:xfrm>
              <a:off x="4702175" y="4816848"/>
              <a:ext cx="322263" cy="309562"/>
            </a:xfrm>
            <a:custGeom>
              <a:avLst/>
              <a:gdLst>
                <a:gd name="T0" fmla="*/ 102 w 203"/>
                <a:gd name="T1" fmla="*/ 0 h 195"/>
                <a:gd name="T2" fmla="*/ 125 w 203"/>
                <a:gd name="T3" fmla="*/ 74 h 195"/>
                <a:gd name="T4" fmla="*/ 203 w 203"/>
                <a:gd name="T5" fmla="*/ 74 h 195"/>
                <a:gd name="T6" fmla="*/ 139 w 203"/>
                <a:gd name="T7" fmla="*/ 120 h 195"/>
                <a:gd name="T8" fmla="*/ 162 w 203"/>
                <a:gd name="T9" fmla="*/ 195 h 195"/>
                <a:gd name="T10" fmla="*/ 102 w 203"/>
                <a:gd name="T11" fmla="*/ 148 h 195"/>
                <a:gd name="T12" fmla="*/ 37 w 203"/>
                <a:gd name="T13" fmla="*/ 195 h 195"/>
                <a:gd name="T14" fmla="*/ 60 w 203"/>
                <a:gd name="T15" fmla="*/ 120 h 195"/>
                <a:gd name="T16" fmla="*/ 0 w 203"/>
                <a:gd name="T17" fmla="*/ 74 h 195"/>
                <a:gd name="T18" fmla="*/ 74 w 203"/>
                <a:gd name="T19" fmla="*/ 74 h 195"/>
                <a:gd name="T20" fmla="*/ 102 w 203"/>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3" h="195">
                  <a:moveTo>
                    <a:pt x="102" y="0"/>
                  </a:moveTo>
                  <a:lnTo>
                    <a:pt x="125" y="74"/>
                  </a:lnTo>
                  <a:lnTo>
                    <a:pt x="203" y="74"/>
                  </a:lnTo>
                  <a:lnTo>
                    <a:pt x="139" y="120"/>
                  </a:lnTo>
                  <a:lnTo>
                    <a:pt x="162" y="195"/>
                  </a:lnTo>
                  <a:lnTo>
                    <a:pt x="102" y="148"/>
                  </a:lnTo>
                  <a:lnTo>
                    <a:pt x="37" y="195"/>
                  </a:lnTo>
                  <a:lnTo>
                    <a:pt x="60" y="120"/>
                  </a:lnTo>
                  <a:lnTo>
                    <a:pt x="0" y="74"/>
                  </a:lnTo>
                  <a:lnTo>
                    <a:pt x="74" y="74"/>
                  </a:lnTo>
                  <a:lnTo>
                    <a:pt x="10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solidFill>
                  <a:prstClr val="black"/>
                </a:solidFill>
                <a:cs typeface="+mn-ea"/>
                <a:sym typeface="+mn-lt"/>
              </a:endParaRPr>
            </a:p>
          </p:txBody>
        </p:sp>
      </p:grpSp>
      <p:sp>
        <p:nvSpPr>
          <p:cNvPr id="4" name="直角三角形 3"/>
          <p:cNvSpPr/>
          <p:nvPr/>
        </p:nvSpPr>
        <p:spPr>
          <a:xfrm flipV="1">
            <a:off x="119336" y="146699"/>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直角三角形 25"/>
          <p:cNvSpPr/>
          <p:nvPr/>
        </p:nvSpPr>
        <p:spPr>
          <a:xfrm rot="10800000" flipV="1">
            <a:off x="10344472" y="5003956"/>
            <a:ext cx="1728192" cy="1728192"/>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 name="文本框 118"/>
          <p:cNvSpPr txBox="1"/>
          <p:nvPr/>
        </p:nvSpPr>
        <p:spPr>
          <a:xfrm>
            <a:off x="623392" y="2297051"/>
            <a:ext cx="2299051" cy="101566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000" b="1" i="0" u="none" strike="noStrike" kern="1200" cap="none" spc="600" normalizeH="0" baseline="0" noProof="0" dirty="0">
                <a:ln>
                  <a:noFill/>
                </a:ln>
                <a:solidFill>
                  <a:schemeClr val="bg1"/>
                </a:solidFill>
                <a:effectLst/>
                <a:uLnTx/>
                <a:uFillTx/>
                <a:cs typeface="+mn-ea"/>
                <a:sym typeface="+mn-lt"/>
              </a:rPr>
              <a:t>目录</a:t>
            </a:r>
          </a:p>
        </p:txBody>
      </p:sp>
      <p:sp>
        <p:nvSpPr>
          <p:cNvPr id="120" name="文本框 119"/>
          <p:cNvSpPr txBox="1"/>
          <p:nvPr/>
        </p:nvSpPr>
        <p:spPr>
          <a:xfrm rot="16200000">
            <a:off x="1526696" y="2611659"/>
            <a:ext cx="492443" cy="2075498"/>
          </a:xfrm>
          <a:prstGeom prst="rect">
            <a:avLst/>
          </a:prstGeom>
          <a:noFill/>
        </p:spPr>
        <p:txBody>
          <a:bodyPr vert="eaVert"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300" normalizeH="0" baseline="0" noProof="0" dirty="0">
                <a:ln>
                  <a:noFill/>
                </a:ln>
                <a:solidFill>
                  <a:schemeClr val="bg1"/>
                </a:solidFill>
                <a:effectLst/>
                <a:uLnTx/>
                <a:uFillTx/>
                <a:cs typeface="+mn-ea"/>
                <a:sym typeface="+mn-lt"/>
              </a:rPr>
              <a:t>CONTENTS</a:t>
            </a:r>
            <a:endParaRPr kumimoji="0" lang="zh-CN" altLang="en-US" sz="2000" b="0" i="0" u="none" strike="noStrike" kern="1200" cap="none" spc="300" normalizeH="0" baseline="0" noProof="0" dirty="0">
              <a:ln>
                <a:noFill/>
              </a:ln>
              <a:solidFill>
                <a:schemeClr val="bg1"/>
              </a:solidFill>
              <a:effectLst/>
              <a:uLnTx/>
              <a:uFillTx/>
              <a:cs typeface="+mn-ea"/>
              <a:sym typeface="+mn-lt"/>
            </a:endParaRPr>
          </a:p>
        </p:txBody>
      </p:sp>
      <p:grpSp>
        <p:nvGrpSpPr>
          <p:cNvPr id="36" name="组合 35"/>
          <p:cNvGrpSpPr/>
          <p:nvPr/>
        </p:nvGrpSpPr>
        <p:grpSpPr>
          <a:xfrm>
            <a:off x="767560" y="4034781"/>
            <a:ext cx="2010715" cy="330323"/>
            <a:chOff x="4702175" y="4743823"/>
            <a:chExt cx="2773363" cy="455612"/>
          </a:xfrm>
        </p:grpSpPr>
        <p:sp>
          <p:nvSpPr>
            <p:cNvPr id="37" name="Freeform 423"/>
            <p:cNvSpPr/>
            <p:nvPr/>
          </p:nvSpPr>
          <p:spPr bwMode="auto">
            <a:xfrm>
              <a:off x="5310188" y="4816848"/>
              <a:ext cx="323850" cy="309562"/>
            </a:xfrm>
            <a:custGeom>
              <a:avLst/>
              <a:gdLst>
                <a:gd name="T0" fmla="*/ 102 w 204"/>
                <a:gd name="T1" fmla="*/ 0 h 195"/>
                <a:gd name="T2" fmla="*/ 130 w 204"/>
                <a:gd name="T3" fmla="*/ 74 h 195"/>
                <a:gd name="T4" fmla="*/ 204 w 204"/>
                <a:gd name="T5" fmla="*/ 74 h 195"/>
                <a:gd name="T6" fmla="*/ 144 w 204"/>
                <a:gd name="T7" fmla="*/ 120 h 195"/>
                <a:gd name="T8" fmla="*/ 167 w 204"/>
                <a:gd name="T9" fmla="*/ 195 h 195"/>
                <a:gd name="T10" fmla="*/ 102 w 204"/>
                <a:gd name="T11" fmla="*/ 148 h 195"/>
                <a:gd name="T12" fmla="*/ 42 w 204"/>
                <a:gd name="T13" fmla="*/ 195 h 195"/>
                <a:gd name="T14" fmla="*/ 65 w 204"/>
                <a:gd name="T15" fmla="*/ 120 h 195"/>
                <a:gd name="T16" fmla="*/ 0 w 204"/>
                <a:gd name="T17" fmla="*/ 74 h 195"/>
                <a:gd name="T18" fmla="*/ 79 w 204"/>
                <a:gd name="T19" fmla="*/ 74 h 195"/>
                <a:gd name="T20" fmla="*/ 102 w 204"/>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4" h="195">
                  <a:moveTo>
                    <a:pt x="102" y="0"/>
                  </a:moveTo>
                  <a:lnTo>
                    <a:pt x="130" y="74"/>
                  </a:lnTo>
                  <a:lnTo>
                    <a:pt x="204" y="74"/>
                  </a:lnTo>
                  <a:lnTo>
                    <a:pt x="144" y="120"/>
                  </a:lnTo>
                  <a:lnTo>
                    <a:pt x="167" y="195"/>
                  </a:lnTo>
                  <a:lnTo>
                    <a:pt x="102" y="148"/>
                  </a:lnTo>
                  <a:lnTo>
                    <a:pt x="42" y="195"/>
                  </a:lnTo>
                  <a:lnTo>
                    <a:pt x="65" y="120"/>
                  </a:lnTo>
                  <a:lnTo>
                    <a:pt x="0" y="74"/>
                  </a:lnTo>
                  <a:lnTo>
                    <a:pt x="79" y="74"/>
                  </a:lnTo>
                  <a:lnTo>
                    <a:pt x="10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a:solidFill>
                  <a:prstClr val="black"/>
                </a:solidFill>
                <a:cs typeface="+mn-ea"/>
                <a:sym typeface="+mn-lt"/>
              </a:endParaRPr>
            </a:p>
          </p:txBody>
        </p:sp>
        <p:sp>
          <p:nvSpPr>
            <p:cNvPr id="38" name="Freeform 424"/>
            <p:cNvSpPr/>
            <p:nvPr/>
          </p:nvSpPr>
          <p:spPr bwMode="auto">
            <a:xfrm>
              <a:off x="5846763" y="4743823"/>
              <a:ext cx="484188" cy="455612"/>
            </a:xfrm>
            <a:custGeom>
              <a:avLst/>
              <a:gdLst>
                <a:gd name="T0" fmla="*/ 152 w 305"/>
                <a:gd name="T1" fmla="*/ 0 h 287"/>
                <a:gd name="T2" fmla="*/ 189 w 305"/>
                <a:gd name="T3" fmla="*/ 111 h 287"/>
                <a:gd name="T4" fmla="*/ 305 w 305"/>
                <a:gd name="T5" fmla="*/ 111 h 287"/>
                <a:gd name="T6" fmla="*/ 208 w 305"/>
                <a:gd name="T7" fmla="*/ 176 h 287"/>
                <a:gd name="T8" fmla="*/ 245 w 305"/>
                <a:gd name="T9" fmla="*/ 287 h 287"/>
                <a:gd name="T10" fmla="*/ 152 w 305"/>
                <a:gd name="T11" fmla="*/ 217 h 287"/>
                <a:gd name="T12" fmla="*/ 60 w 305"/>
                <a:gd name="T13" fmla="*/ 287 h 287"/>
                <a:gd name="T14" fmla="*/ 97 w 305"/>
                <a:gd name="T15" fmla="*/ 176 h 287"/>
                <a:gd name="T16" fmla="*/ 0 w 305"/>
                <a:gd name="T17" fmla="*/ 111 h 287"/>
                <a:gd name="T18" fmla="*/ 115 w 305"/>
                <a:gd name="T19" fmla="*/ 111 h 287"/>
                <a:gd name="T20" fmla="*/ 152 w 305"/>
                <a:gd name="T21"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05" h="287">
                  <a:moveTo>
                    <a:pt x="152" y="0"/>
                  </a:moveTo>
                  <a:lnTo>
                    <a:pt x="189" y="111"/>
                  </a:lnTo>
                  <a:lnTo>
                    <a:pt x="305" y="111"/>
                  </a:lnTo>
                  <a:lnTo>
                    <a:pt x="208" y="176"/>
                  </a:lnTo>
                  <a:lnTo>
                    <a:pt x="245" y="287"/>
                  </a:lnTo>
                  <a:lnTo>
                    <a:pt x="152" y="217"/>
                  </a:lnTo>
                  <a:lnTo>
                    <a:pt x="60" y="287"/>
                  </a:lnTo>
                  <a:lnTo>
                    <a:pt x="97" y="176"/>
                  </a:lnTo>
                  <a:lnTo>
                    <a:pt x="0" y="111"/>
                  </a:lnTo>
                  <a:lnTo>
                    <a:pt x="115" y="111"/>
                  </a:lnTo>
                  <a:lnTo>
                    <a:pt x="15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a:solidFill>
                  <a:prstClr val="black"/>
                </a:solidFill>
                <a:cs typeface="+mn-ea"/>
                <a:sym typeface="+mn-lt"/>
              </a:endParaRPr>
            </a:p>
          </p:txBody>
        </p:sp>
        <p:sp>
          <p:nvSpPr>
            <p:cNvPr id="39" name="Freeform 425"/>
            <p:cNvSpPr/>
            <p:nvPr/>
          </p:nvSpPr>
          <p:spPr bwMode="auto">
            <a:xfrm>
              <a:off x="6543675" y="4816848"/>
              <a:ext cx="322263" cy="309562"/>
            </a:xfrm>
            <a:custGeom>
              <a:avLst/>
              <a:gdLst>
                <a:gd name="T0" fmla="*/ 101 w 203"/>
                <a:gd name="T1" fmla="*/ 0 h 195"/>
                <a:gd name="T2" fmla="*/ 125 w 203"/>
                <a:gd name="T3" fmla="*/ 74 h 195"/>
                <a:gd name="T4" fmla="*/ 203 w 203"/>
                <a:gd name="T5" fmla="*/ 74 h 195"/>
                <a:gd name="T6" fmla="*/ 138 w 203"/>
                <a:gd name="T7" fmla="*/ 120 h 195"/>
                <a:gd name="T8" fmla="*/ 162 w 203"/>
                <a:gd name="T9" fmla="*/ 195 h 195"/>
                <a:gd name="T10" fmla="*/ 101 w 203"/>
                <a:gd name="T11" fmla="*/ 148 h 195"/>
                <a:gd name="T12" fmla="*/ 37 w 203"/>
                <a:gd name="T13" fmla="*/ 195 h 195"/>
                <a:gd name="T14" fmla="*/ 60 w 203"/>
                <a:gd name="T15" fmla="*/ 120 h 195"/>
                <a:gd name="T16" fmla="*/ 0 w 203"/>
                <a:gd name="T17" fmla="*/ 74 h 195"/>
                <a:gd name="T18" fmla="*/ 74 w 203"/>
                <a:gd name="T19" fmla="*/ 74 h 195"/>
                <a:gd name="T20" fmla="*/ 101 w 203"/>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3" h="195">
                  <a:moveTo>
                    <a:pt x="101" y="0"/>
                  </a:moveTo>
                  <a:lnTo>
                    <a:pt x="125" y="74"/>
                  </a:lnTo>
                  <a:lnTo>
                    <a:pt x="203" y="74"/>
                  </a:lnTo>
                  <a:lnTo>
                    <a:pt x="138" y="120"/>
                  </a:lnTo>
                  <a:lnTo>
                    <a:pt x="162" y="195"/>
                  </a:lnTo>
                  <a:lnTo>
                    <a:pt x="101" y="148"/>
                  </a:lnTo>
                  <a:lnTo>
                    <a:pt x="37" y="195"/>
                  </a:lnTo>
                  <a:lnTo>
                    <a:pt x="60" y="120"/>
                  </a:lnTo>
                  <a:lnTo>
                    <a:pt x="0" y="74"/>
                  </a:lnTo>
                  <a:lnTo>
                    <a:pt x="74" y="74"/>
                  </a:lnTo>
                  <a:lnTo>
                    <a:pt x="101"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a:solidFill>
                  <a:prstClr val="black"/>
                </a:solidFill>
                <a:cs typeface="+mn-ea"/>
                <a:sym typeface="+mn-lt"/>
              </a:endParaRPr>
            </a:p>
          </p:txBody>
        </p:sp>
        <p:sp>
          <p:nvSpPr>
            <p:cNvPr id="40" name="Freeform 426"/>
            <p:cNvSpPr/>
            <p:nvPr/>
          </p:nvSpPr>
          <p:spPr bwMode="auto">
            <a:xfrm>
              <a:off x="7151688" y="4816848"/>
              <a:ext cx="323850" cy="309562"/>
            </a:xfrm>
            <a:custGeom>
              <a:avLst/>
              <a:gdLst>
                <a:gd name="T0" fmla="*/ 102 w 204"/>
                <a:gd name="T1" fmla="*/ 0 h 195"/>
                <a:gd name="T2" fmla="*/ 130 w 204"/>
                <a:gd name="T3" fmla="*/ 74 h 195"/>
                <a:gd name="T4" fmla="*/ 204 w 204"/>
                <a:gd name="T5" fmla="*/ 74 h 195"/>
                <a:gd name="T6" fmla="*/ 144 w 204"/>
                <a:gd name="T7" fmla="*/ 120 h 195"/>
                <a:gd name="T8" fmla="*/ 167 w 204"/>
                <a:gd name="T9" fmla="*/ 195 h 195"/>
                <a:gd name="T10" fmla="*/ 102 w 204"/>
                <a:gd name="T11" fmla="*/ 148 h 195"/>
                <a:gd name="T12" fmla="*/ 42 w 204"/>
                <a:gd name="T13" fmla="*/ 195 h 195"/>
                <a:gd name="T14" fmla="*/ 65 w 204"/>
                <a:gd name="T15" fmla="*/ 120 h 195"/>
                <a:gd name="T16" fmla="*/ 0 w 204"/>
                <a:gd name="T17" fmla="*/ 74 h 195"/>
                <a:gd name="T18" fmla="*/ 79 w 204"/>
                <a:gd name="T19" fmla="*/ 74 h 195"/>
                <a:gd name="T20" fmla="*/ 102 w 204"/>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4" h="195">
                  <a:moveTo>
                    <a:pt x="102" y="0"/>
                  </a:moveTo>
                  <a:lnTo>
                    <a:pt x="130" y="74"/>
                  </a:lnTo>
                  <a:lnTo>
                    <a:pt x="204" y="74"/>
                  </a:lnTo>
                  <a:lnTo>
                    <a:pt x="144" y="120"/>
                  </a:lnTo>
                  <a:lnTo>
                    <a:pt x="167" y="195"/>
                  </a:lnTo>
                  <a:lnTo>
                    <a:pt x="102" y="148"/>
                  </a:lnTo>
                  <a:lnTo>
                    <a:pt x="42" y="195"/>
                  </a:lnTo>
                  <a:lnTo>
                    <a:pt x="65" y="120"/>
                  </a:lnTo>
                  <a:lnTo>
                    <a:pt x="0" y="74"/>
                  </a:lnTo>
                  <a:lnTo>
                    <a:pt x="79" y="74"/>
                  </a:lnTo>
                  <a:lnTo>
                    <a:pt x="10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a:solidFill>
                  <a:prstClr val="black"/>
                </a:solidFill>
                <a:cs typeface="+mn-ea"/>
                <a:sym typeface="+mn-lt"/>
              </a:endParaRPr>
            </a:p>
          </p:txBody>
        </p:sp>
        <p:sp>
          <p:nvSpPr>
            <p:cNvPr id="41" name="Freeform 427"/>
            <p:cNvSpPr/>
            <p:nvPr/>
          </p:nvSpPr>
          <p:spPr bwMode="auto">
            <a:xfrm>
              <a:off x="4702175" y="4816848"/>
              <a:ext cx="322263" cy="309562"/>
            </a:xfrm>
            <a:custGeom>
              <a:avLst/>
              <a:gdLst>
                <a:gd name="T0" fmla="*/ 102 w 203"/>
                <a:gd name="T1" fmla="*/ 0 h 195"/>
                <a:gd name="T2" fmla="*/ 125 w 203"/>
                <a:gd name="T3" fmla="*/ 74 h 195"/>
                <a:gd name="T4" fmla="*/ 203 w 203"/>
                <a:gd name="T5" fmla="*/ 74 h 195"/>
                <a:gd name="T6" fmla="*/ 139 w 203"/>
                <a:gd name="T7" fmla="*/ 120 h 195"/>
                <a:gd name="T8" fmla="*/ 162 w 203"/>
                <a:gd name="T9" fmla="*/ 195 h 195"/>
                <a:gd name="T10" fmla="*/ 102 w 203"/>
                <a:gd name="T11" fmla="*/ 148 h 195"/>
                <a:gd name="T12" fmla="*/ 37 w 203"/>
                <a:gd name="T13" fmla="*/ 195 h 195"/>
                <a:gd name="T14" fmla="*/ 60 w 203"/>
                <a:gd name="T15" fmla="*/ 120 h 195"/>
                <a:gd name="T16" fmla="*/ 0 w 203"/>
                <a:gd name="T17" fmla="*/ 74 h 195"/>
                <a:gd name="T18" fmla="*/ 74 w 203"/>
                <a:gd name="T19" fmla="*/ 74 h 195"/>
                <a:gd name="T20" fmla="*/ 102 w 203"/>
                <a:gd name="T21" fmla="*/ 0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3" h="195">
                  <a:moveTo>
                    <a:pt x="102" y="0"/>
                  </a:moveTo>
                  <a:lnTo>
                    <a:pt x="125" y="74"/>
                  </a:lnTo>
                  <a:lnTo>
                    <a:pt x="203" y="74"/>
                  </a:lnTo>
                  <a:lnTo>
                    <a:pt x="139" y="120"/>
                  </a:lnTo>
                  <a:lnTo>
                    <a:pt x="162" y="195"/>
                  </a:lnTo>
                  <a:lnTo>
                    <a:pt x="102" y="148"/>
                  </a:lnTo>
                  <a:lnTo>
                    <a:pt x="37" y="195"/>
                  </a:lnTo>
                  <a:lnTo>
                    <a:pt x="60" y="120"/>
                  </a:lnTo>
                  <a:lnTo>
                    <a:pt x="0" y="74"/>
                  </a:lnTo>
                  <a:lnTo>
                    <a:pt x="74" y="74"/>
                  </a:lnTo>
                  <a:lnTo>
                    <a:pt x="102" y="0"/>
                  </a:lnTo>
                  <a:close/>
                </a:path>
              </a:pathLst>
            </a:custGeom>
            <a:solidFill>
              <a:srgbClr val="F0C53B"/>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algn="ctr"/>
              <a:endParaRPr lang="zh-CN" altLang="en-US">
                <a:solidFill>
                  <a:prstClr val="black"/>
                </a:solidFill>
                <a:cs typeface="+mn-ea"/>
                <a:sym typeface="+mn-lt"/>
              </a:endParaRPr>
            </a:p>
          </p:txBody>
        </p:sp>
      </p:grpSp>
      <p:grpSp>
        <p:nvGrpSpPr>
          <p:cNvPr id="69" name="组合 68"/>
          <p:cNvGrpSpPr/>
          <p:nvPr/>
        </p:nvGrpSpPr>
        <p:grpSpPr>
          <a:xfrm>
            <a:off x="6456040" y="2420888"/>
            <a:ext cx="4644651" cy="45719"/>
            <a:chOff x="6091993" y="1857948"/>
            <a:chExt cx="4644651" cy="45719"/>
          </a:xfrm>
        </p:grpSpPr>
        <p:cxnSp>
          <p:nvCxnSpPr>
            <p:cNvPr id="70" name="直接连接符 69"/>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1" name="椭圆 70"/>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cs typeface="+mn-ea"/>
                <a:sym typeface="+mn-lt"/>
              </a:endParaRPr>
            </a:p>
          </p:txBody>
        </p:sp>
      </p:grpSp>
      <p:sp>
        <p:nvSpPr>
          <p:cNvPr id="72" name="文本占位符 659"/>
          <p:cNvSpPr txBox="1"/>
          <p:nvPr/>
        </p:nvSpPr>
        <p:spPr>
          <a:xfrm>
            <a:off x="6345482" y="1942621"/>
            <a:ext cx="1620957" cy="523220"/>
          </a:xfrm>
          <a:prstGeom prst="rect">
            <a:avLst/>
          </a:prstGeom>
          <a:noFill/>
        </p:spPr>
        <p:txBody>
          <a:bodyPr wrap="none" rtlCol="0" anchor="ctr">
            <a:spAutoFit/>
          </a:bodyPr>
          <a:lstStyle>
            <a:defPPr>
              <a:defRPr lang="zh-CN"/>
            </a:defPPr>
            <a:lvl1pPr>
              <a:defRPr sz="28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项目进展</a:t>
            </a:r>
          </a:p>
        </p:txBody>
      </p:sp>
      <p:grpSp>
        <p:nvGrpSpPr>
          <p:cNvPr id="74" name="组合 73"/>
          <p:cNvGrpSpPr/>
          <p:nvPr/>
        </p:nvGrpSpPr>
        <p:grpSpPr>
          <a:xfrm>
            <a:off x="6456040" y="3571060"/>
            <a:ext cx="4644651" cy="45719"/>
            <a:chOff x="6091993" y="1857948"/>
            <a:chExt cx="4644651" cy="45719"/>
          </a:xfrm>
        </p:grpSpPr>
        <p:cxnSp>
          <p:nvCxnSpPr>
            <p:cNvPr id="75" name="直接连接符 74"/>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76" name="椭圆 75"/>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cs typeface="+mn-ea"/>
                <a:sym typeface="+mn-lt"/>
              </a:endParaRPr>
            </a:p>
          </p:txBody>
        </p:sp>
      </p:grpSp>
      <p:sp>
        <p:nvSpPr>
          <p:cNvPr id="77" name="文本占位符 659"/>
          <p:cNvSpPr txBox="1"/>
          <p:nvPr/>
        </p:nvSpPr>
        <p:spPr>
          <a:xfrm>
            <a:off x="6345482" y="3092793"/>
            <a:ext cx="1620957" cy="523220"/>
          </a:xfrm>
          <a:prstGeom prst="rect">
            <a:avLst/>
          </a:prstGeom>
          <a:noFill/>
        </p:spPr>
        <p:txBody>
          <a:bodyPr wrap="none" rtlCol="0" anchor="ctr">
            <a:spAutoFit/>
          </a:bodyPr>
          <a:lstStyle>
            <a:defPPr>
              <a:defRPr lang="zh-CN"/>
            </a:defPPr>
            <a:lvl1pPr>
              <a:defRPr sz="28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功能展示</a:t>
            </a:r>
          </a:p>
        </p:txBody>
      </p:sp>
      <p:grpSp>
        <p:nvGrpSpPr>
          <p:cNvPr id="79" name="组合 78"/>
          <p:cNvGrpSpPr/>
          <p:nvPr/>
        </p:nvGrpSpPr>
        <p:grpSpPr>
          <a:xfrm>
            <a:off x="6456040" y="4721232"/>
            <a:ext cx="4644651" cy="45719"/>
            <a:chOff x="6091993" y="1857948"/>
            <a:chExt cx="4644651" cy="45719"/>
          </a:xfrm>
        </p:grpSpPr>
        <p:cxnSp>
          <p:nvCxnSpPr>
            <p:cNvPr id="80" name="直接连接符 79"/>
            <p:cNvCxnSpPr/>
            <p:nvPr/>
          </p:nvCxnSpPr>
          <p:spPr>
            <a:xfrm>
              <a:off x="6091993" y="1880808"/>
              <a:ext cx="4632155" cy="0"/>
            </a:xfrm>
            <a:prstGeom prst="line">
              <a:avLst/>
            </a:prstGeom>
            <a:ln>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10690925" y="1857948"/>
              <a:ext cx="45719" cy="45719"/>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400">
                <a:defRPr/>
              </a:pPr>
              <a:endParaRPr lang="zh-CN" altLang="en-US" sz="2000">
                <a:solidFill>
                  <a:prstClr val="white"/>
                </a:solidFill>
                <a:cs typeface="+mn-ea"/>
                <a:sym typeface="+mn-lt"/>
              </a:endParaRPr>
            </a:p>
          </p:txBody>
        </p:sp>
      </p:grpSp>
      <p:sp>
        <p:nvSpPr>
          <p:cNvPr id="82" name="文本占位符 659"/>
          <p:cNvSpPr txBox="1"/>
          <p:nvPr/>
        </p:nvSpPr>
        <p:spPr>
          <a:xfrm>
            <a:off x="6345482" y="4242965"/>
            <a:ext cx="1620957" cy="523220"/>
          </a:xfrm>
          <a:prstGeom prst="rect">
            <a:avLst/>
          </a:prstGeom>
          <a:noFill/>
        </p:spPr>
        <p:txBody>
          <a:bodyPr wrap="none" rtlCol="0" anchor="ctr">
            <a:spAutoFit/>
          </a:bodyPr>
          <a:lstStyle>
            <a:defPPr>
              <a:defRPr lang="zh-CN"/>
            </a:defPPr>
            <a:lvl1pPr>
              <a:defRPr sz="28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预期成果</a:t>
            </a:r>
          </a:p>
        </p:txBody>
      </p:sp>
      <p:sp>
        <p:nvSpPr>
          <p:cNvPr id="89" name="文本占位符 2"/>
          <p:cNvSpPr txBox="1"/>
          <p:nvPr/>
        </p:nvSpPr>
        <p:spPr>
          <a:xfrm>
            <a:off x="5307919" y="1980119"/>
            <a:ext cx="1043999" cy="757130"/>
          </a:xfrm>
          <a:prstGeom prst="rect">
            <a:avLst/>
          </a:prstGeom>
          <a:noFill/>
        </p:spPr>
        <p:txBody>
          <a:bodyPr wrap="square"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914400"/>
            <a:r>
              <a:rPr lang="en-US" altLang="zh-CN" sz="4800" dirty="0">
                <a:solidFill>
                  <a:schemeClr val="accent2"/>
                </a:solidFill>
                <a:latin typeface="+mn-lt"/>
                <a:ea typeface="+mn-ea"/>
                <a:cs typeface="+mn-ea"/>
                <a:sym typeface="+mn-lt"/>
              </a:rPr>
              <a:t>01</a:t>
            </a:r>
            <a:endParaRPr lang="en-US" sz="4800" dirty="0">
              <a:solidFill>
                <a:schemeClr val="accent2"/>
              </a:solidFill>
              <a:latin typeface="+mn-lt"/>
              <a:ea typeface="+mn-ea"/>
              <a:cs typeface="+mn-ea"/>
              <a:sym typeface="+mn-lt"/>
            </a:endParaRPr>
          </a:p>
        </p:txBody>
      </p:sp>
      <p:sp>
        <p:nvSpPr>
          <p:cNvPr id="90" name="文本占位符 2"/>
          <p:cNvSpPr txBox="1"/>
          <p:nvPr/>
        </p:nvSpPr>
        <p:spPr>
          <a:xfrm>
            <a:off x="5307919" y="3126662"/>
            <a:ext cx="1043999" cy="757130"/>
          </a:xfrm>
          <a:prstGeom prst="rect">
            <a:avLst/>
          </a:prstGeom>
          <a:noFill/>
        </p:spPr>
        <p:txBody>
          <a:bodyPr wrap="square"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914400"/>
            <a:r>
              <a:rPr lang="en-US" altLang="zh-CN" sz="4800">
                <a:solidFill>
                  <a:schemeClr val="accent2"/>
                </a:solidFill>
                <a:latin typeface="+mn-lt"/>
                <a:ea typeface="+mn-ea"/>
                <a:cs typeface="+mn-ea"/>
                <a:sym typeface="+mn-lt"/>
              </a:rPr>
              <a:t>02</a:t>
            </a:r>
            <a:endParaRPr lang="en-US" sz="4800">
              <a:solidFill>
                <a:schemeClr val="accent2"/>
              </a:solidFill>
              <a:latin typeface="+mn-lt"/>
              <a:ea typeface="+mn-ea"/>
              <a:cs typeface="+mn-ea"/>
              <a:sym typeface="+mn-lt"/>
            </a:endParaRPr>
          </a:p>
        </p:txBody>
      </p:sp>
      <p:sp>
        <p:nvSpPr>
          <p:cNvPr id="91" name="文本占位符 2"/>
          <p:cNvSpPr txBox="1"/>
          <p:nvPr/>
        </p:nvSpPr>
        <p:spPr>
          <a:xfrm>
            <a:off x="5307919" y="4273205"/>
            <a:ext cx="1043999" cy="757130"/>
          </a:xfrm>
          <a:prstGeom prst="rect">
            <a:avLst/>
          </a:prstGeom>
          <a:noFill/>
        </p:spPr>
        <p:txBody>
          <a:bodyPr wrap="square" rtlCol="0" anchor="ctr">
            <a:spAutoFit/>
          </a:bodyPr>
          <a:lstStyle>
            <a:lvl1pPr marL="0" indent="0" algn="l" defTabSz="914400" rtl="0" eaLnBrk="1" latinLnBrk="0" hangingPunct="1">
              <a:lnSpc>
                <a:spcPct val="90000"/>
              </a:lnSpc>
              <a:spcBef>
                <a:spcPts val="1000"/>
              </a:spcBef>
              <a:buFont typeface="Arial" panose="020B0604020202020204" pitchFamily="34" charset="0"/>
              <a:buNone/>
              <a:defRPr lang="zh-CN" altLang="en-US" sz="4400" kern="1200" dirty="0">
                <a:solidFill>
                  <a:schemeClr val="accent1"/>
                </a:solidFill>
                <a:latin typeface="Impact" panose="020B0806030902050204" pitchFamily="34" charset="0"/>
                <a:ea typeface="造字工房俊雅（非商用）常规体" pitchFamily="50"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defTabSz="914400"/>
            <a:r>
              <a:rPr lang="en-US" altLang="zh-CN" sz="4800">
                <a:solidFill>
                  <a:schemeClr val="accent2"/>
                </a:solidFill>
                <a:latin typeface="+mn-lt"/>
                <a:ea typeface="+mn-ea"/>
                <a:cs typeface="+mn-ea"/>
                <a:sym typeface="+mn-lt"/>
              </a:rPr>
              <a:t>03</a:t>
            </a:r>
            <a:endParaRPr lang="en-US" sz="4800">
              <a:solidFill>
                <a:schemeClr val="accent2"/>
              </a:solidFill>
              <a:latin typeface="+mn-lt"/>
              <a:ea typeface="+mn-ea"/>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占位符 24"/>
          <p:cNvSpPr txBox="1"/>
          <p:nvPr/>
        </p:nvSpPr>
        <p:spPr>
          <a:xfrm>
            <a:off x="4333398" y="3280857"/>
            <a:ext cx="3262432" cy="1015663"/>
          </a:xfrm>
          <a:prstGeom prst="rect">
            <a:avLst/>
          </a:prstGeom>
          <a:noFill/>
        </p:spPr>
        <p:txBody>
          <a:bodyPr wrap="none" rtlCol="0" anchor="ctr">
            <a:spAutoFit/>
          </a:bodyPr>
          <a:lstStyle>
            <a:defPPr>
              <a:defRPr lang="zh-CN"/>
            </a:defPPr>
            <a:lvl1pPr algn="ctr">
              <a:defRPr sz="60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项目进展</a:t>
            </a:r>
          </a:p>
        </p:txBody>
      </p:sp>
      <p:sp>
        <p:nvSpPr>
          <p:cNvPr id="57" name="文本占位符 24"/>
          <p:cNvSpPr txBox="1"/>
          <p:nvPr/>
        </p:nvSpPr>
        <p:spPr>
          <a:xfrm>
            <a:off x="4655840" y="1903751"/>
            <a:ext cx="2617542" cy="2003625"/>
          </a:xfrm>
          <a:prstGeom prst="rect">
            <a:avLst/>
          </a:prstGeom>
          <a:noFill/>
          <a:effectLst/>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3800" kern="1200" dirty="0">
                <a:gradFill>
                  <a:gsLst>
                    <a:gs pos="75000">
                      <a:schemeClr val="bg1">
                        <a:alpha val="0"/>
                      </a:schemeClr>
                    </a:gs>
                    <a:gs pos="0">
                      <a:schemeClr val="bg1"/>
                    </a:gs>
                  </a:gsLst>
                  <a:lin ang="5400000" scaled="0"/>
                </a:gradFill>
                <a:latin typeface="Impact" panose="020B080603090205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gradFill>
                  <a:gsLst>
                    <a:gs pos="75000">
                      <a:schemeClr val="accent2">
                        <a:alpha val="0"/>
                      </a:schemeClr>
                    </a:gs>
                    <a:gs pos="0">
                      <a:schemeClr val="accent2"/>
                    </a:gs>
                  </a:gsLst>
                  <a:lin ang="5400000" scaled="0"/>
                </a:gradFill>
                <a:latin typeface="+mn-lt"/>
                <a:cs typeface="+mn-ea"/>
                <a:sym typeface="+mn-lt"/>
              </a:rPr>
              <a:t>01</a:t>
            </a:r>
            <a:endParaRPr lang="en-US" dirty="0">
              <a:gradFill>
                <a:gsLst>
                  <a:gs pos="75000">
                    <a:schemeClr val="accent2">
                      <a:alpha val="0"/>
                    </a:schemeClr>
                  </a:gs>
                  <a:gs pos="0">
                    <a:schemeClr val="accent2"/>
                  </a:gs>
                </a:gsLst>
                <a:lin ang="5400000" scaled="0"/>
              </a:gra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24560" y="425450"/>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项目进展</a:t>
            </a:r>
          </a:p>
        </p:txBody>
      </p:sp>
      <p:sp>
        <p:nvSpPr>
          <p:cNvPr id="17" name="五边形 16"/>
          <p:cNvSpPr/>
          <p:nvPr/>
        </p:nvSpPr>
        <p:spPr>
          <a:xfrm>
            <a:off x="623392" y="425542"/>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01</a:t>
            </a:r>
            <a:endParaRPr lang="zh-CN" altLang="en-US" sz="2400" b="1" dirty="0">
              <a:cs typeface="+mn-ea"/>
              <a:sym typeface="+mn-lt"/>
            </a:endParaRPr>
          </a:p>
        </p:txBody>
      </p:sp>
      <p:sp>
        <p:nvSpPr>
          <p:cNvPr id="8" name="文本框 7">
            <a:extLst>
              <a:ext uri="{FF2B5EF4-FFF2-40B4-BE49-F238E27FC236}">
                <a16:creationId xmlns:a16="http://schemas.microsoft.com/office/drawing/2014/main" id="{00CB3536-4C2E-4949-958E-3363167BB173}"/>
              </a:ext>
            </a:extLst>
          </p:cNvPr>
          <p:cNvSpPr txBox="1"/>
          <p:nvPr/>
        </p:nvSpPr>
        <p:spPr>
          <a:xfrm>
            <a:off x="6477447" y="2636912"/>
            <a:ext cx="5328592" cy="2308324"/>
          </a:xfrm>
          <a:prstGeom prst="rect">
            <a:avLst/>
          </a:prstGeom>
          <a:noFill/>
        </p:spPr>
        <p:txBody>
          <a:bodyPr wrap="square" rtlCol="0">
            <a:spAutoFit/>
          </a:bodyPr>
          <a:lstStyle/>
          <a:p>
            <a:r>
              <a:rPr lang="zh-CN" altLang="en-US" dirty="0"/>
              <a:t>调查发现低年级研究生与初入新领域的研究人员往往在科研初期需要进行文献调研，但他们在阅读大量文献并处理过载信息时会面临种种困难。</a:t>
            </a:r>
            <a:endParaRPr lang="en-US" altLang="zh-CN" dirty="0"/>
          </a:p>
          <a:p>
            <a:endParaRPr lang="en-US" altLang="zh-CN" dirty="0"/>
          </a:p>
          <a:p>
            <a:r>
              <a:rPr lang="zh-CN" altLang="en-US" dirty="0"/>
              <a:t>在这种情况下，需要一个拥有可视化功能的文献分析工具，为使用者提供一种更加智能的文献可视化和分析解决方案，让使用者更加容易地掌握自己需要的信息，同时提高研究效率和研究成果的质量。</a:t>
            </a:r>
          </a:p>
        </p:txBody>
      </p:sp>
      <p:pic>
        <p:nvPicPr>
          <p:cNvPr id="1026" name="Picture 2" descr="翻书图片_翻书图片大全_全景图片">
            <a:extLst>
              <a:ext uri="{FF2B5EF4-FFF2-40B4-BE49-F238E27FC236}">
                <a16:creationId xmlns:a16="http://schemas.microsoft.com/office/drawing/2014/main" id="{9D439DC2-4643-39EB-7EBB-CA9196FF5B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961" y="1988840"/>
            <a:ext cx="5715000" cy="366712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21840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24560" y="425450"/>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项目进展</a:t>
            </a:r>
          </a:p>
        </p:txBody>
      </p:sp>
      <p:sp>
        <p:nvSpPr>
          <p:cNvPr id="17" name="五边形 16"/>
          <p:cNvSpPr/>
          <p:nvPr/>
        </p:nvSpPr>
        <p:spPr>
          <a:xfrm>
            <a:off x="623392" y="425542"/>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01</a:t>
            </a:r>
            <a:endParaRPr lang="zh-CN" altLang="en-US" sz="2400" b="1" dirty="0">
              <a:cs typeface="+mn-ea"/>
              <a:sym typeface="+mn-lt"/>
            </a:endParaRPr>
          </a:p>
        </p:txBody>
      </p:sp>
      <p:pic>
        <p:nvPicPr>
          <p:cNvPr id="2" name="图片 1">
            <a:extLst>
              <a:ext uri="{FF2B5EF4-FFF2-40B4-BE49-F238E27FC236}">
                <a16:creationId xmlns:a16="http://schemas.microsoft.com/office/drawing/2014/main" id="{98EC5918-8970-258A-8FB1-0B877B5513C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5941" y="2420888"/>
            <a:ext cx="10720118" cy="432048"/>
          </a:xfrm>
          <a:prstGeom prst="rect">
            <a:avLst/>
          </a:prstGeom>
        </p:spPr>
      </p:pic>
      <p:sp>
        <p:nvSpPr>
          <p:cNvPr id="3" name="文本框 2">
            <a:extLst>
              <a:ext uri="{FF2B5EF4-FFF2-40B4-BE49-F238E27FC236}">
                <a16:creationId xmlns:a16="http://schemas.microsoft.com/office/drawing/2014/main" id="{8D714597-D2E7-5AAF-86E9-065E3CAB8E85}"/>
              </a:ext>
            </a:extLst>
          </p:cNvPr>
          <p:cNvSpPr txBox="1"/>
          <p:nvPr/>
        </p:nvSpPr>
        <p:spPr>
          <a:xfrm>
            <a:off x="3367256" y="4007347"/>
            <a:ext cx="5724644" cy="1477328"/>
          </a:xfrm>
          <a:prstGeom prst="rect">
            <a:avLst/>
          </a:prstGeom>
          <a:noFill/>
        </p:spPr>
        <p:txBody>
          <a:bodyPr wrap="none" rtlCol="0">
            <a:spAutoFit/>
          </a:bodyPr>
          <a:lstStyle/>
          <a:p>
            <a:r>
              <a:rPr lang="zh-CN" altLang="en-US" dirty="0"/>
              <a:t>目前基本实现数据获取、信息提取和数据分析的功能，</a:t>
            </a:r>
            <a:endParaRPr lang="en-US" altLang="zh-CN" dirty="0"/>
          </a:p>
          <a:p>
            <a:endParaRPr lang="en-US" altLang="zh-CN" dirty="0"/>
          </a:p>
          <a:p>
            <a:r>
              <a:rPr lang="zh-CN" altLang="en-US" dirty="0"/>
              <a:t>完成了简单的模块配置化和网站构建，</a:t>
            </a:r>
            <a:endParaRPr lang="en-US" altLang="zh-CN" dirty="0"/>
          </a:p>
          <a:p>
            <a:endParaRPr lang="en-US" altLang="zh-CN" dirty="0"/>
          </a:p>
          <a:p>
            <a:r>
              <a:rPr lang="zh-CN" altLang="en-US" dirty="0"/>
              <a:t>可展示的有 </a:t>
            </a:r>
            <a:r>
              <a:rPr lang="en-US" altLang="zh-CN" dirty="0"/>
              <a:t>conf, find, plot, read, chat </a:t>
            </a:r>
            <a:r>
              <a:rPr lang="zh-CN" altLang="en-US" dirty="0"/>
              <a:t>共五个功能。</a:t>
            </a:r>
          </a:p>
        </p:txBody>
      </p:sp>
    </p:spTree>
    <p:extLst>
      <p:ext uri="{BB962C8B-B14F-4D97-AF65-F5344CB8AC3E}">
        <p14:creationId xmlns:p14="http://schemas.microsoft.com/office/powerpoint/2010/main" val="5394904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24560" y="425450"/>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项目进展</a:t>
            </a:r>
          </a:p>
        </p:txBody>
      </p:sp>
      <p:sp>
        <p:nvSpPr>
          <p:cNvPr id="17" name="五边形 16"/>
          <p:cNvSpPr/>
          <p:nvPr/>
        </p:nvSpPr>
        <p:spPr>
          <a:xfrm>
            <a:off x="623392" y="425542"/>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01</a:t>
            </a:r>
            <a:endParaRPr lang="zh-CN" altLang="en-US" sz="2400" b="1" dirty="0">
              <a:cs typeface="+mn-ea"/>
              <a:sym typeface="+mn-lt"/>
            </a:endParaRPr>
          </a:p>
        </p:txBody>
      </p:sp>
      <p:pic>
        <p:nvPicPr>
          <p:cNvPr id="2" name="图片 1">
            <a:extLst>
              <a:ext uri="{FF2B5EF4-FFF2-40B4-BE49-F238E27FC236}">
                <a16:creationId xmlns:a16="http://schemas.microsoft.com/office/drawing/2014/main" id="{065885C6-D700-2BF3-3FDA-84E2385FA6A1}"/>
              </a:ext>
            </a:extLst>
          </p:cNvPr>
          <p:cNvPicPr>
            <a:picLocks noChangeAspect="1"/>
          </p:cNvPicPr>
          <p:nvPr/>
        </p:nvPicPr>
        <p:blipFill>
          <a:blip r:embed="rId3"/>
          <a:stretch>
            <a:fillRect/>
          </a:stretch>
        </p:blipFill>
        <p:spPr>
          <a:xfrm>
            <a:off x="623392" y="2068398"/>
            <a:ext cx="6763331" cy="3456384"/>
          </a:xfrm>
          <a:prstGeom prst="rect">
            <a:avLst/>
          </a:prstGeom>
        </p:spPr>
      </p:pic>
      <p:sp>
        <p:nvSpPr>
          <p:cNvPr id="3" name="文本框 2">
            <a:extLst>
              <a:ext uri="{FF2B5EF4-FFF2-40B4-BE49-F238E27FC236}">
                <a16:creationId xmlns:a16="http://schemas.microsoft.com/office/drawing/2014/main" id="{EEEA8A25-86E4-A257-78B5-521767D90279}"/>
              </a:ext>
            </a:extLst>
          </p:cNvPr>
          <p:cNvSpPr txBox="1"/>
          <p:nvPr/>
        </p:nvSpPr>
        <p:spPr>
          <a:xfrm>
            <a:off x="7911380" y="2365429"/>
            <a:ext cx="3672408" cy="2862322"/>
          </a:xfrm>
          <a:prstGeom prst="rect">
            <a:avLst/>
          </a:prstGeom>
          <a:noFill/>
        </p:spPr>
        <p:txBody>
          <a:bodyPr wrap="square" rtlCol="0">
            <a:spAutoFit/>
          </a:bodyPr>
          <a:lstStyle/>
          <a:p>
            <a:r>
              <a:rPr lang="zh-CN" altLang="en-US" dirty="0"/>
              <a:t>数据获取部分，</a:t>
            </a:r>
            <a:endParaRPr lang="en-US" altLang="zh-CN" dirty="0"/>
          </a:p>
          <a:p>
            <a:endParaRPr lang="en-US" altLang="zh-CN" dirty="0"/>
          </a:p>
          <a:p>
            <a:r>
              <a:rPr lang="zh-CN" altLang="en-US" dirty="0"/>
              <a:t>在</a:t>
            </a:r>
            <a:r>
              <a:rPr lang="en-US" altLang="zh-CN" dirty="0"/>
              <a:t>DBLP</a:t>
            </a:r>
            <a:r>
              <a:rPr lang="zh-CN" altLang="en-US" dirty="0"/>
              <a:t>网站获取了</a:t>
            </a:r>
            <a:r>
              <a:rPr lang="en-US" altLang="zh-CN" dirty="0"/>
              <a:t>680</a:t>
            </a:r>
            <a:r>
              <a:rPr lang="zh-CN" altLang="en-US" dirty="0"/>
              <a:t>万篇</a:t>
            </a:r>
            <a:r>
              <a:rPr lang="en-US" altLang="zh-CN" dirty="0"/>
              <a:t>CS</a:t>
            </a:r>
            <a:r>
              <a:rPr lang="zh-CN" altLang="en-US" dirty="0"/>
              <a:t>相关的论文数据，使用</a:t>
            </a:r>
            <a:r>
              <a:rPr lang="en-US" altLang="zh-CN" dirty="0"/>
              <a:t>XML</a:t>
            </a:r>
            <a:r>
              <a:rPr lang="zh-CN" altLang="en-US" dirty="0"/>
              <a:t>格式储存。</a:t>
            </a:r>
            <a:endParaRPr lang="en-US" altLang="zh-CN" dirty="0"/>
          </a:p>
          <a:p>
            <a:endParaRPr lang="en-US" altLang="zh-CN" dirty="0"/>
          </a:p>
          <a:p>
            <a:r>
              <a:rPr lang="zh-CN" altLang="en-US" dirty="0"/>
              <a:t>主要标签为论文标题，论文作者，发表地点，页码，唯一标识符。</a:t>
            </a:r>
            <a:endParaRPr lang="en-US" altLang="zh-CN" dirty="0"/>
          </a:p>
          <a:p>
            <a:endParaRPr lang="en-US" altLang="zh-CN" dirty="0"/>
          </a:p>
          <a:p>
            <a:r>
              <a:rPr lang="zh-CN" altLang="en-US" dirty="0"/>
              <a:t>根据这些信息在</a:t>
            </a:r>
            <a:r>
              <a:rPr lang="en-US" altLang="zh-CN" dirty="0"/>
              <a:t>Google Scholar</a:t>
            </a:r>
            <a:r>
              <a:rPr lang="zh-CN" altLang="en-US" dirty="0"/>
              <a:t>等网站获取对应摘要和引用。</a:t>
            </a:r>
            <a:endParaRPr lang="en-US" altLang="zh-CN" dirty="0"/>
          </a:p>
        </p:txBody>
      </p:sp>
    </p:spTree>
    <p:extLst>
      <p:ext uri="{BB962C8B-B14F-4D97-AF65-F5344CB8AC3E}">
        <p14:creationId xmlns:p14="http://schemas.microsoft.com/office/powerpoint/2010/main" val="284697512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24560" y="425450"/>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项目进展</a:t>
            </a:r>
          </a:p>
        </p:txBody>
      </p:sp>
      <p:sp>
        <p:nvSpPr>
          <p:cNvPr id="17" name="五边形 16"/>
          <p:cNvSpPr/>
          <p:nvPr/>
        </p:nvSpPr>
        <p:spPr>
          <a:xfrm>
            <a:off x="623392" y="425542"/>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01</a:t>
            </a:r>
            <a:endParaRPr lang="zh-CN" altLang="en-US" sz="2400" b="1" dirty="0">
              <a:cs typeface="+mn-ea"/>
              <a:sym typeface="+mn-lt"/>
            </a:endParaRPr>
          </a:p>
        </p:txBody>
      </p:sp>
      <p:pic>
        <p:nvPicPr>
          <p:cNvPr id="2" name="图片 1">
            <a:extLst>
              <a:ext uri="{FF2B5EF4-FFF2-40B4-BE49-F238E27FC236}">
                <a16:creationId xmlns:a16="http://schemas.microsoft.com/office/drawing/2014/main" id="{C810BEE9-6A79-0D78-AC0B-04EA347521B5}"/>
              </a:ext>
            </a:extLst>
          </p:cNvPr>
          <p:cNvPicPr>
            <a:picLocks noChangeAspect="1"/>
          </p:cNvPicPr>
          <p:nvPr/>
        </p:nvPicPr>
        <p:blipFill>
          <a:blip r:embed="rId3"/>
          <a:stretch>
            <a:fillRect/>
          </a:stretch>
        </p:blipFill>
        <p:spPr>
          <a:xfrm>
            <a:off x="1667211" y="1124744"/>
            <a:ext cx="8845727" cy="3168352"/>
          </a:xfrm>
          <a:prstGeom prst="rect">
            <a:avLst/>
          </a:prstGeom>
        </p:spPr>
      </p:pic>
      <p:sp>
        <p:nvSpPr>
          <p:cNvPr id="4" name="文本框 3">
            <a:extLst>
              <a:ext uri="{FF2B5EF4-FFF2-40B4-BE49-F238E27FC236}">
                <a16:creationId xmlns:a16="http://schemas.microsoft.com/office/drawing/2014/main" id="{BD9390D3-79F2-C895-C60D-F9D48DC2B61C}"/>
              </a:ext>
            </a:extLst>
          </p:cNvPr>
          <p:cNvSpPr txBox="1"/>
          <p:nvPr/>
        </p:nvSpPr>
        <p:spPr>
          <a:xfrm>
            <a:off x="2423592" y="1789789"/>
            <a:ext cx="6096000" cy="376834"/>
          </a:xfrm>
          <a:prstGeom prst="rect">
            <a:avLst/>
          </a:prstGeom>
          <a:noFill/>
        </p:spPr>
        <p:txBody>
          <a:bodyPr wrap="square">
            <a:spAutoFit/>
          </a:bodyPr>
          <a:lstStyle/>
          <a:p>
            <a:pPr algn="just">
              <a:lnSpc>
                <a:spcPct val="150000"/>
              </a:lnSpc>
            </a:pPr>
            <a:endParaRPr lang="zh-CN" altLang="zh-CN" sz="1400" dirty="0">
              <a:effectLst/>
              <a:latin typeface="Times New Roman" panose="02020603050405020304" pitchFamily="18" charset="0"/>
              <a:ea typeface="宋体" panose="02010600030101010101" pitchFamily="2" charset="-122"/>
            </a:endParaRPr>
          </a:p>
        </p:txBody>
      </p:sp>
      <p:sp>
        <p:nvSpPr>
          <p:cNvPr id="3" name="文本框 2">
            <a:extLst>
              <a:ext uri="{FF2B5EF4-FFF2-40B4-BE49-F238E27FC236}">
                <a16:creationId xmlns:a16="http://schemas.microsoft.com/office/drawing/2014/main" id="{1277DE2C-07A8-435D-354A-2BEA9FC83F8A}"/>
              </a:ext>
            </a:extLst>
          </p:cNvPr>
          <p:cNvSpPr txBox="1"/>
          <p:nvPr/>
        </p:nvSpPr>
        <p:spPr>
          <a:xfrm>
            <a:off x="1667211" y="4784718"/>
            <a:ext cx="8845728" cy="1200329"/>
          </a:xfrm>
          <a:prstGeom prst="rect">
            <a:avLst/>
          </a:prstGeom>
          <a:noFill/>
        </p:spPr>
        <p:txBody>
          <a:bodyPr wrap="square" rtlCol="0">
            <a:spAutoFit/>
          </a:bodyPr>
          <a:lstStyle/>
          <a:p>
            <a:r>
              <a:rPr lang="zh-CN" altLang="en-US" dirty="0"/>
              <a:t>信息提取部分，</a:t>
            </a:r>
            <a:endParaRPr lang="en-US" altLang="zh-CN" dirty="0"/>
          </a:p>
          <a:p>
            <a:endParaRPr lang="en-US" altLang="zh-CN" dirty="0"/>
          </a:p>
          <a:p>
            <a:r>
              <a:rPr lang="zh-CN" altLang="en-US" dirty="0"/>
              <a:t>对数据获取部分的信息进行整理，提取论文标题，论文作者，发表地点，页码，唯一标识符，被引用数量，摘要。获取整理得到</a:t>
            </a:r>
            <a:r>
              <a:rPr lang="en-US" altLang="zh-CN" dirty="0"/>
              <a:t>CSV</a:t>
            </a:r>
            <a:r>
              <a:rPr lang="zh-CN" altLang="en-US" dirty="0"/>
              <a:t>格式文件，图为</a:t>
            </a:r>
            <a:r>
              <a:rPr lang="en-US" altLang="zh-CN" dirty="0"/>
              <a:t>SODA 2022</a:t>
            </a:r>
            <a:r>
              <a:rPr lang="zh-CN" altLang="en-US" dirty="0"/>
              <a:t>部分数据。</a:t>
            </a:r>
            <a:endParaRPr lang="en-US" altLang="zh-CN" dirty="0"/>
          </a:p>
        </p:txBody>
      </p:sp>
    </p:spTree>
    <p:extLst>
      <p:ext uri="{BB962C8B-B14F-4D97-AF65-F5344CB8AC3E}">
        <p14:creationId xmlns:p14="http://schemas.microsoft.com/office/powerpoint/2010/main" val="7934806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占位符 24"/>
          <p:cNvSpPr txBox="1"/>
          <p:nvPr/>
        </p:nvSpPr>
        <p:spPr>
          <a:xfrm>
            <a:off x="4464786" y="2933686"/>
            <a:ext cx="3262432" cy="1015663"/>
          </a:xfrm>
          <a:prstGeom prst="rect">
            <a:avLst/>
          </a:prstGeom>
          <a:noFill/>
        </p:spPr>
        <p:txBody>
          <a:bodyPr wrap="none" rtlCol="0" anchor="ctr">
            <a:spAutoFit/>
          </a:bodyPr>
          <a:lstStyle>
            <a:defPPr>
              <a:defRPr lang="zh-CN"/>
            </a:defPPr>
            <a:lvl1pPr algn="ctr">
              <a:defRPr sz="60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功能展示</a:t>
            </a:r>
          </a:p>
        </p:txBody>
      </p:sp>
      <p:sp>
        <p:nvSpPr>
          <p:cNvPr id="57" name="文本占位符 24"/>
          <p:cNvSpPr txBox="1"/>
          <p:nvPr/>
        </p:nvSpPr>
        <p:spPr>
          <a:xfrm>
            <a:off x="4787229" y="1556579"/>
            <a:ext cx="2617542" cy="2003625"/>
          </a:xfrm>
          <a:prstGeom prst="rect">
            <a:avLst/>
          </a:prstGeom>
          <a:noFill/>
          <a:effectLst/>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3800" kern="1200" dirty="0">
                <a:gradFill>
                  <a:gsLst>
                    <a:gs pos="75000">
                      <a:schemeClr val="bg1">
                        <a:alpha val="0"/>
                      </a:schemeClr>
                    </a:gs>
                    <a:gs pos="0">
                      <a:schemeClr val="bg1"/>
                    </a:gs>
                  </a:gsLst>
                  <a:lin ang="5400000" scaled="0"/>
                </a:gradFill>
                <a:latin typeface="Impact" panose="020B080603090205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gradFill>
                  <a:gsLst>
                    <a:gs pos="75000">
                      <a:schemeClr val="accent2">
                        <a:alpha val="0"/>
                      </a:schemeClr>
                    </a:gs>
                    <a:gs pos="0">
                      <a:schemeClr val="accent2"/>
                    </a:gs>
                  </a:gsLst>
                  <a:lin ang="5400000" scaled="0"/>
                </a:gradFill>
                <a:latin typeface="+mn-lt"/>
                <a:cs typeface="+mn-ea"/>
                <a:sym typeface="+mn-lt"/>
              </a:rPr>
              <a:t>02</a:t>
            </a:r>
            <a:endParaRPr lang="en-US" dirty="0">
              <a:gradFill>
                <a:gsLst>
                  <a:gs pos="75000">
                    <a:schemeClr val="accent2">
                      <a:alpha val="0"/>
                    </a:schemeClr>
                  </a:gs>
                  <a:gs pos="0">
                    <a:schemeClr val="accent2"/>
                  </a:gs>
                </a:gsLst>
                <a:lin ang="5400000" scaled="0"/>
              </a:gra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0BDCD23F-AF94-5C39-1EFE-E17179235925}"/>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9645581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168DC69C-6C6E-CBB3-CAB9-33265DBCD01F}"/>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9475926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7E8CDA3-4931-06F3-0E7A-F2A00E09E91B}"/>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65541907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3DEFD58-F5D4-7F52-9DDE-DDE0325893B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2885799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4A2BEBE-0A31-23B4-246D-426D0E234B17}"/>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8538529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文本占位符 24"/>
          <p:cNvSpPr txBox="1"/>
          <p:nvPr/>
        </p:nvSpPr>
        <p:spPr>
          <a:xfrm>
            <a:off x="4454365" y="3006076"/>
            <a:ext cx="3283271" cy="1015663"/>
          </a:xfrm>
          <a:prstGeom prst="rect">
            <a:avLst/>
          </a:prstGeom>
          <a:noFill/>
        </p:spPr>
        <p:txBody>
          <a:bodyPr wrap="none" rtlCol="0" anchor="ctr">
            <a:spAutoFit/>
          </a:bodyPr>
          <a:lstStyle>
            <a:defPPr>
              <a:defRPr lang="zh-CN"/>
            </a:defPPr>
            <a:lvl1pPr algn="ctr">
              <a:defRPr sz="6000">
                <a:solidFill>
                  <a:schemeClr val="accent1"/>
                </a:solidFill>
                <a:effectLst>
                  <a:outerShdw dist="63500" dir="5400000" algn="tl" rotWithShape="0">
                    <a:prstClr val="black">
                      <a:alpha val="10000"/>
                    </a:prstClr>
                  </a:outerShdw>
                </a:effectLst>
                <a:latin typeface="DIN-BlackItalic" pitchFamily="50" charset="0"/>
                <a:ea typeface="+mj-ea"/>
              </a:defRPr>
            </a:lvl1pPr>
          </a:lstStyle>
          <a:p>
            <a:r>
              <a:rPr lang="zh-CN" altLang="en-US" dirty="0">
                <a:latin typeface="+mn-lt"/>
                <a:ea typeface="+mn-ea"/>
                <a:cs typeface="+mn-ea"/>
                <a:sym typeface="+mn-lt"/>
              </a:rPr>
              <a:t>预期成果</a:t>
            </a:r>
          </a:p>
        </p:txBody>
      </p:sp>
      <p:sp>
        <p:nvSpPr>
          <p:cNvPr id="57" name="文本占位符 24"/>
          <p:cNvSpPr txBox="1"/>
          <p:nvPr/>
        </p:nvSpPr>
        <p:spPr>
          <a:xfrm>
            <a:off x="4787229" y="1628969"/>
            <a:ext cx="2617542" cy="2003625"/>
          </a:xfrm>
          <a:prstGeom prst="rect">
            <a:avLst/>
          </a:prstGeom>
          <a:noFill/>
          <a:effectLst/>
        </p:spPr>
        <p:txBody>
          <a:bodyPr wrap="square" rtlCol="0">
            <a:spAutoFit/>
          </a:bodyPr>
          <a:lstStyle>
            <a:lvl1pPr marL="0" indent="0" algn="ctr" defTabSz="914400" rtl="0" eaLnBrk="1" latinLnBrk="0" hangingPunct="1">
              <a:lnSpc>
                <a:spcPct val="90000"/>
              </a:lnSpc>
              <a:spcBef>
                <a:spcPts val="1000"/>
              </a:spcBef>
              <a:buFont typeface="Arial" panose="020B0604020202020204" pitchFamily="34" charset="0"/>
              <a:buNone/>
              <a:defRPr lang="zh-CN" altLang="en-US" sz="13800" kern="1200" dirty="0">
                <a:gradFill>
                  <a:gsLst>
                    <a:gs pos="75000">
                      <a:schemeClr val="bg1">
                        <a:alpha val="0"/>
                      </a:schemeClr>
                    </a:gs>
                    <a:gs pos="0">
                      <a:schemeClr val="bg1"/>
                    </a:gs>
                  </a:gsLst>
                  <a:lin ang="5400000" scaled="0"/>
                </a:gradFill>
                <a:latin typeface="Impact" panose="020B080603090205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gradFill>
                  <a:gsLst>
                    <a:gs pos="75000">
                      <a:schemeClr val="accent2">
                        <a:alpha val="0"/>
                      </a:schemeClr>
                    </a:gs>
                    <a:gs pos="0">
                      <a:schemeClr val="accent2"/>
                    </a:gs>
                  </a:gsLst>
                  <a:lin ang="5400000" scaled="0"/>
                </a:gradFill>
                <a:latin typeface="+mn-lt"/>
                <a:cs typeface="+mn-ea"/>
                <a:sym typeface="+mn-lt"/>
              </a:rPr>
              <a:t>03</a:t>
            </a:r>
            <a:endParaRPr lang="en-US" dirty="0">
              <a:gradFill>
                <a:gsLst>
                  <a:gs pos="75000">
                    <a:schemeClr val="accent2">
                      <a:alpha val="0"/>
                    </a:schemeClr>
                  </a:gs>
                  <a:gs pos="0">
                    <a:schemeClr val="accent2"/>
                  </a:gs>
                </a:gsLst>
                <a:lin ang="5400000" scaled="0"/>
              </a:gradFill>
              <a:latin typeface="+mn-lt"/>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p:nvPr/>
        </p:nvSpPr>
        <p:spPr>
          <a:xfrm>
            <a:off x="924560" y="425450"/>
            <a:ext cx="2439670" cy="525780"/>
          </a:xfrm>
          <a:prstGeom prst="rect">
            <a:avLst/>
          </a:prstGeom>
          <a:solidFill>
            <a:srgbClr val="E8EA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3200" dirty="0">
                <a:solidFill>
                  <a:schemeClr val="accent1"/>
                </a:solidFill>
                <a:effectLst>
                  <a:outerShdw dist="63500" dir="5400000" algn="tl" rotWithShape="0">
                    <a:prstClr val="black">
                      <a:alpha val="10000"/>
                    </a:prstClr>
                  </a:outerShdw>
                </a:effectLst>
                <a:cs typeface="+mn-ea"/>
                <a:sym typeface="+mn-lt"/>
              </a:rPr>
              <a:t>    预期成果</a:t>
            </a:r>
          </a:p>
        </p:txBody>
      </p:sp>
      <p:sp>
        <p:nvSpPr>
          <p:cNvPr id="17" name="五边形 16"/>
          <p:cNvSpPr/>
          <p:nvPr/>
        </p:nvSpPr>
        <p:spPr>
          <a:xfrm>
            <a:off x="623392" y="425542"/>
            <a:ext cx="576064" cy="525597"/>
          </a:xfrm>
          <a:prstGeom prst="homePlate">
            <a:avLst>
              <a:gd name="adj" fmla="val 264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400" b="1" dirty="0">
                <a:cs typeface="+mn-ea"/>
                <a:sym typeface="+mn-lt"/>
              </a:rPr>
              <a:t>03</a:t>
            </a:r>
            <a:endParaRPr lang="zh-CN" altLang="en-US" sz="2400" b="1" dirty="0">
              <a:cs typeface="+mn-ea"/>
              <a:sym typeface="+mn-lt"/>
            </a:endParaRPr>
          </a:p>
        </p:txBody>
      </p:sp>
      <p:sp>
        <p:nvSpPr>
          <p:cNvPr id="2" name="文本框 1">
            <a:extLst>
              <a:ext uri="{FF2B5EF4-FFF2-40B4-BE49-F238E27FC236}">
                <a16:creationId xmlns:a16="http://schemas.microsoft.com/office/drawing/2014/main" id="{A1C58C6D-06E1-EF24-4F07-71CC886AFB4A}"/>
              </a:ext>
            </a:extLst>
          </p:cNvPr>
          <p:cNvSpPr txBox="1"/>
          <p:nvPr/>
        </p:nvSpPr>
        <p:spPr>
          <a:xfrm>
            <a:off x="3887924" y="3068960"/>
            <a:ext cx="4968552" cy="2585323"/>
          </a:xfrm>
          <a:prstGeom prst="rect">
            <a:avLst/>
          </a:prstGeom>
          <a:noFill/>
        </p:spPr>
        <p:txBody>
          <a:bodyPr wrap="square" rtlCol="0">
            <a:spAutoFit/>
          </a:bodyPr>
          <a:lstStyle/>
          <a:p>
            <a:pPr marL="285750" indent="-285750">
              <a:buFont typeface="Arial" panose="020B0604020202020204" pitchFamily="34" charset="0"/>
              <a:buChar char="•"/>
            </a:pPr>
            <a:r>
              <a:rPr lang="zh-CN" altLang="en-US" dirty="0"/>
              <a:t>主题类别筛选</a:t>
            </a:r>
            <a:endParaRPr lang="en-US" altLang="zh-CN" dirty="0"/>
          </a:p>
          <a:p>
            <a:pPr marL="285750" indent="-285750">
              <a:buFont typeface="Arial" panose="020B0604020202020204" pitchFamily="34" charset="0"/>
              <a:buChar char="•"/>
            </a:pPr>
            <a:r>
              <a:rPr lang="zh-CN" altLang="en-US" dirty="0"/>
              <a:t>按作者筛选</a:t>
            </a:r>
            <a:endParaRPr lang="en-US" altLang="zh-CN" dirty="0"/>
          </a:p>
          <a:p>
            <a:pPr marL="285750" indent="-285750">
              <a:buFont typeface="Arial" panose="020B0604020202020204" pitchFamily="34" charset="0"/>
              <a:buChar char="•"/>
            </a:pPr>
            <a:r>
              <a:rPr lang="zh-CN" altLang="en-US" dirty="0"/>
              <a:t>探究文章关系</a:t>
            </a:r>
            <a:endParaRPr lang="en-US" altLang="zh-CN" dirty="0"/>
          </a:p>
          <a:p>
            <a:pPr marL="285750" indent="-285750">
              <a:buFont typeface="Arial" panose="020B0604020202020204" pitchFamily="34" charset="0"/>
              <a:buChar char="•"/>
            </a:pPr>
            <a:r>
              <a:rPr lang="zh-CN" altLang="en-US" dirty="0"/>
              <a:t>探究合作关系</a:t>
            </a:r>
            <a:endParaRPr lang="en-US" altLang="zh-CN" dirty="0"/>
          </a:p>
          <a:p>
            <a:pPr marL="285750" indent="-285750">
              <a:buFont typeface="Arial" panose="020B0604020202020204" pitchFamily="34" charset="0"/>
              <a:buChar char="•"/>
            </a:pPr>
            <a:r>
              <a:rPr lang="zh-CN" altLang="en-US" dirty="0"/>
              <a:t>预测研究风格走向</a:t>
            </a:r>
            <a:endParaRPr lang="en-US" altLang="zh-CN" dirty="0"/>
          </a:p>
          <a:p>
            <a:endParaRPr lang="en-US" altLang="zh-CN" dirty="0"/>
          </a:p>
          <a:p>
            <a:r>
              <a:rPr lang="zh-CN" altLang="en-US" dirty="0"/>
              <a:t>搭建网站，实现可配置的文献分析可视化工具，能够有效提高科研效率。</a:t>
            </a:r>
          </a:p>
          <a:p>
            <a:endParaRPr lang="zh-CN" altLang="en-US" dirty="0"/>
          </a:p>
        </p:txBody>
      </p:sp>
      <p:sp>
        <p:nvSpPr>
          <p:cNvPr id="3" name="文本框 2">
            <a:extLst>
              <a:ext uri="{FF2B5EF4-FFF2-40B4-BE49-F238E27FC236}">
                <a16:creationId xmlns:a16="http://schemas.microsoft.com/office/drawing/2014/main" id="{35F6FD8B-E4A2-F26B-4077-6FC58E2D6805}"/>
              </a:ext>
            </a:extLst>
          </p:cNvPr>
          <p:cNvSpPr txBox="1"/>
          <p:nvPr/>
        </p:nvSpPr>
        <p:spPr>
          <a:xfrm>
            <a:off x="3887924" y="1772816"/>
            <a:ext cx="4416152" cy="523220"/>
          </a:xfrm>
          <a:prstGeom prst="rect">
            <a:avLst/>
          </a:prstGeom>
          <a:noFill/>
        </p:spPr>
        <p:txBody>
          <a:bodyPr wrap="square">
            <a:spAutoFit/>
          </a:bodyPr>
          <a:lstStyle/>
          <a:p>
            <a:r>
              <a:rPr lang="en-US" altLang="zh-CN" sz="2800" dirty="0">
                <a:hlinkClick r:id="rId3"/>
              </a:rPr>
              <a:t>https://win.sunnuay.com/</a:t>
            </a:r>
            <a:endParaRPr lang="en-US" altLang="zh-CN" sz="2800" dirty="0"/>
          </a:p>
        </p:txBody>
      </p:sp>
    </p:spTree>
    <p:extLst>
      <p:ext uri="{BB962C8B-B14F-4D97-AF65-F5344CB8AC3E}">
        <p14:creationId xmlns:p14="http://schemas.microsoft.com/office/powerpoint/2010/main" val="363885779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几何风格论文答辩开题报告PPT模版"/>
  <p:tag name="KSO_WPP_MARK_KEY" val="0cbdd90e-25ee-4e46-bb78-2f7d6dcfd26b"/>
  <p:tag name="COMMONDATA" val="eyJoZGlkIjoiYTI0YzM0ZjAwZjJhNmNmNzRjODMyMzExN2MwODg0MzcifQ=="/>
</p:tagLst>
</file>

<file path=ppt/theme/theme1.xml><?xml version="1.0" encoding="utf-8"?>
<a:theme xmlns:a="http://schemas.openxmlformats.org/drawingml/2006/main" name="14_Office 主题">
  <a:themeElements>
    <a:clrScheme name="自定义 1343">
      <a:dk1>
        <a:sysClr val="windowText" lastClr="000000"/>
      </a:dk1>
      <a:lt1>
        <a:sysClr val="window" lastClr="FFFFFF"/>
      </a:lt1>
      <a:dk2>
        <a:srgbClr val="3F3F3F"/>
      </a:dk2>
      <a:lt2>
        <a:srgbClr val="E7E6E6"/>
      </a:lt2>
      <a:accent1>
        <a:srgbClr val="3B397A"/>
      </a:accent1>
      <a:accent2>
        <a:srgbClr val="00A0EA"/>
      </a:accent2>
      <a:accent3>
        <a:srgbClr val="F0C53B"/>
      </a:accent3>
      <a:accent4>
        <a:srgbClr val="FFC000"/>
      </a:accent4>
      <a:accent5>
        <a:srgbClr val="4472C4"/>
      </a:accent5>
      <a:accent6>
        <a:srgbClr val="70AD47"/>
      </a:accent6>
      <a:hlink>
        <a:srgbClr val="0563C1"/>
      </a:hlink>
      <a:folHlink>
        <a:srgbClr val="954F72"/>
      </a:folHlink>
    </a:clrScheme>
    <a:fontScheme name="Temp">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www.33ppt.com</Template>
  <TotalTime>511</TotalTime>
  <Words>347</Words>
  <Application>Microsoft Office PowerPoint</Application>
  <PresentationFormat>宽屏</PresentationFormat>
  <Paragraphs>68</Paragraphs>
  <Slides>15</Slides>
  <Notes>15</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15</vt:i4>
      </vt:variant>
    </vt:vector>
  </HeadingPairs>
  <TitlesOfParts>
    <vt:vector size="19" baseType="lpstr">
      <vt:lpstr>Arial</vt:lpstr>
      <vt:lpstr>Calibri</vt:lpstr>
      <vt:lpstr>Times New Roman</vt:lpstr>
      <vt:lpstr>14_Office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cp:lastModifiedBy>shroud death</cp:lastModifiedBy>
  <cp:revision>39</cp:revision>
  <dcterms:created xsi:type="dcterms:W3CDTF">2022-06-29T06:17:00Z</dcterms:created>
  <dcterms:modified xsi:type="dcterms:W3CDTF">2023-09-27T07:19:08Z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2052-11.1.0.11744</vt:lpwstr>
  </property>
  <property fmtid="{D5CDD505-2E9C-101B-9397-08002B2CF9AE}" pid="3" name="ICV">
    <vt:lpwstr>63B69AB0BDD54F16AB607F02BF33AC61</vt:lpwstr>
  </property>
</Properties>
</file>